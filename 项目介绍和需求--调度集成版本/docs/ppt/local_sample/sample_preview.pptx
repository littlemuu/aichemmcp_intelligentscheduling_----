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6C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44768"/>
            <a:ext cx="12188952" cy="713232"/>
          </a:xfrm>
          <a:prstGeom prst="rect">
            <a:avLst/>
          </a:prstGeom>
          <a:solidFill>
            <a:srgbClr val="112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0" y="502920"/>
            <a:ext cx="13716" cy="5303520"/>
          </a:xfrm>
          <a:prstGeom prst="rect">
            <a:avLst/>
          </a:prstGeom>
          <a:solidFill>
            <a:srgbClr val="18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14032" y="502920"/>
            <a:ext cx="13716" cy="5303520"/>
          </a:xfrm>
          <a:prstGeom prst="rect">
            <a:avLst/>
          </a:prstGeom>
          <a:solidFill>
            <a:srgbClr val="18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44383" y="502920"/>
            <a:ext cx="13716" cy="5303520"/>
          </a:xfrm>
          <a:prstGeom prst="rect">
            <a:avLst/>
          </a:prstGeom>
          <a:solidFill>
            <a:srgbClr val="18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74736" y="502920"/>
            <a:ext cx="13716" cy="5303520"/>
          </a:xfrm>
          <a:prstGeom prst="rect">
            <a:avLst/>
          </a:prstGeom>
          <a:solidFill>
            <a:srgbClr val="18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705088" y="502920"/>
            <a:ext cx="13716" cy="5303520"/>
          </a:xfrm>
          <a:prstGeom prst="rect">
            <a:avLst/>
          </a:prstGeom>
          <a:solidFill>
            <a:srgbClr val="18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235440" y="502920"/>
            <a:ext cx="13716" cy="5303520"/>
          </a:xfrm>
          <a:prstGeom prst="rect">
            <a:avLst/>
          </a:prstGeom>
          <a:solidFill>
            <a:srgbClr val="18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765792" y="502920"/>
            <a:ext cx="13716" cy="5303520"/>
          </a:xfrm>
          <a:prstGeom prst="rect">
            <a:avLst/>
          </a:prstGeom>
          <a:solidFill>
            <a:srgbClr val="18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296144" y="502920"/>
            <a:ext cx="13716" cy="5303520"/>
          </a:xfrm>
          <a:prstGeom prst="rect">
            <a:avLst/>
          </a:prstGeom>
          <a:solidFill>
            <a:srgbClr val="18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826496" y="502920"/>
            <a:ext cx="13716" cy="5303520"/>
          </a:xfrm>
          <a:prstGeom prst="rect">
            <a:avLst/>
          </a:prstGeom>
          <a:solidFill>
            <a:srgbClr val="18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356848" y="502920"/>
            <a:ext cx="13716" cy="5303520"/>
          </a:xfrm>
          <a:prstGeom prst="rect">
            <a:avLst/>
          </a:prstGeom>
          <a:solidFill>
            <a:srgbClr val="18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731520"/>
            <a:ext cx="5394960" cy="9144"/>
          </a:xfrm>
          <a:prstGeom prst="rect">
            <a:avLst/>
          </a:prstGeom>
          <a:solidFill>
            <a:srgbClr val="18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444752"/>
            <a:ext cx="5394960" cy="9144"/>
          </a:xfrm>
          <a:prstGeom prst="rect">
            <a:avLst/>
          </a:prstGeom>
          <a:solidFill>
            <a:srgbClr val="18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2157984"/>
            <a:ext cx="5394960" cy="9144"/>
          </a:xfrm>
          <a:prstGeom prst="rect">
            <a:avLst/>
          </a:prstGeom>
          <a:solidFill>
            <a:srgbClr val="18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2871215"/>
            <a:ext cx="5394960" cy="9144"/>
          </a:xfrm>
          <a:prstGeom prst="rect">
            <a:avLst/>
          </a:prstGeom>
          <a:solidFill>
            <a:srgbClr val="18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3584448"/>
            <a:ext cx="5394960" cy="9144"/>
          </a:xfrm>
          <a:prstGeom prst="rect">
            <a:avLst/>
          </a:prstGeom>
          <a:solidFill>
            <a:srgbClr val="18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4297680"/>
            <a:ext cx="5394960" cy="9144"/>
          </a:xfrm>
          <a:prstGeom prst="rect">
            <a:avLst/>
          </a:prstGeom>
          <a:solidFill>
            <a:srgbClr val="18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658368"/>
            <a:ext cx="4389120" cy="310896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6C7D9"/>
                </a:solidFill>
                <a:latin typeface="Microsoft YaHei"/>
              </a:rPr>
              <a:t>工程实践结题汇报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1234440"/>
            <a:ext cx="5852160" cy="10058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AIChemMCP
智能调度原型系统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2542032"/>
            <a:ext cx="5074920" cy="38404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D2E2F0"/>
                </a:solidFill>
                <a:latin typeface="Microsoft YaHei"/>
              </a:rPr>
              <a:t>面向自动化化学实验流程的仿真调度与模拟设备接口原型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" y="3273552"/>
            <a:ext cx="1325880" cy="310896"/>
          </a:xfrm>
          <a:prstGeom prst="roundRect">
            <a:avLst/>
          </a:prstGeom>
          <a:solidFill>
            <a:srgbClr val="1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" y="3332988"/>
            <a:ext cx="1179576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Action Server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084831" y="3273552"/>
            <a:ext cx="1572768" cy="310896"/>
          </a:xfrm>
          <a:prstGeom prst="roundRect">
            <a:avLst/>
          </a:prstGeom>
          <a:solidFill>
            <a:srgbClr val="16C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57984" y="3332988"/>
            <a:ext cx="1426464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0B1F3A"/>
                </a:solidFill>
                <a:latin typeface="Microsoft YaHei"/>
              </a:rPr>
              <a:t>Scheduling Runtime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22191" y="3273552"/>
            <a:ext cx="1444752" cy="310896"/>
          </a:xfrm>
          <a:prstGeom prst="roundRect">
            <a:avLst/>
          </a:prstGeom>
          <a:solidFill>
            <a:srgbClr val="2C5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95344" y="3332988"/>
            <a:ext cx="1298448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Simulation / Mock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03720" y="1024128"/>
            <a:ext cx="1874519" cy="786384"/>
          </a:xfrm>
          <a:prstGeom prst="roundRect">
            <a:avLst/>
          </a:prstGeom>
          <a:solidFill>
            <a:srgbClr val="153960"/>
          </a:solidFill>
          <a:ln w="13970">
            <a:solidFill>
              <a:srgbClr val="16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31736" y="1143000"/>
            <a:ext cx="1618487" cy="23774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</a:rPr>
              <a:t>Agent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31736" y="1444752"/>
            <a:ext cx="1618487" cy="283463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950" b="0">
                <a:solidFill>
                  <a:srgbClr val="BEDCEB"/>
                </a:solidFill>
                <a:latin typeface="Microsoft YaHei"/>
              </a:rPr>
              <a:t>工具调用入口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72600" y="1024128"/>
            <a:ext cx="1938528" cy="786384"/>
          </a:xfrm>
          <a:prstGeom prst="roundRect">
            <a:avLst/>
          </a:prstGeom>
          <a:solidFill>
            <a:srgbClr val="153960"/>
          </a:solidFill>
          <a:ln w="13970">
            <a:solidFill>
              <a:srgbClr val="16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00616" y="1143000"/>
            <a:ext cx="1682496" cy="23774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</a:rPr>
              <a:t>Action Server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0616" y="1444752"/>
            <a:ext cx="1682496" cy="283463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950" b="0">
                <a:solidFill>
                  <a:srgbClr val="BEDCEB"/>
                </a:solidFill>
                <a:latin typeface="Microsoft YaHei"/>
              </a:rPr>
              <a:t>6 个工具接口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8759952" y="1298448"/>
            <a:ext cx="530352" cy="164592"/>
          </a:xfrm>
          <a:prstGeom prst="rightArrow">
            <a:avLst/>
          </a:prstGeom>
          <a:solidFill>
            <a:srgbClr val="16C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498079" y="2450592"/>
            <a:ext cx="3291840" cy="877824"/>
          </a:xfrm>
          <a:prstGeom prst="roundRect">
            <a:avLst/>
          </a:prstGeom>
          <a:solidFill>
            <a:srgbClr val="0E4874"/>
          </a:solidFill>
          <a:ln w="13970">
            <a:solidFill>
              <a:srgbClr val="16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26096" y="2569464"/>
            <a:ext cx="3035808" cy="23774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</a:rPr>
              <a:t>SchedulingRuntime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26096" y="2871216"/>
            <a:ext cx="3035808" cy="374903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950" b="0">
                <a:solidFill>
                  <a:srgbClr val="BEDCEB"/>
                </a:solidFill>
                <a:latin typeface="Microsoft YaHei"/>
              </a:rPr>
              <a:t>任务队列 · 状态快照 · 执行历史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37960" y="3977639"/>
            <a:ext cx="1554480" cy="658368"/>
          </a:xfrm>
          <a:prstGeom prst="roundRect">
            <a:avLst/>
          </a:prstGeom>
          <a:solidFill>
            <a:srgbClr val="1C5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65976" y="4096511"/>
            <a:ext cx="1298448" cy="23774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WS_REACTOR_A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65976" y="4398264"/>
            <a:ext cx="1298448" cy="155447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950" b="0">
                <a:solidFill>
                  <a:srgbClr val="BEDCEB"/>
                </a:solidFill>
                <a:latin typeface="Microsoft YaHei"/>
              </a:rPr>
              <a:t>reaction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66760" y="3977639"/>
            <a:ext cx="1554480" cy="658368"/>
          </a:xfrm>
          <a:prstGeom prst="roundRect">
            <a:avLst/>
          </a:prstGeom>
          <a:solidFill>
            <a:srgbClr val="1C5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94776" y="4096511"/>
            <a:ext cx="1298448" cy="23774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WS_MEASURE_A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94776" y="4398264"/>
            <a:ext cx="1298448" cy="155447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950" b="0">
                <a:solidFill>
                  <a:srgbClr val="BEDCEB"/>
                </a:solidFill>
                <a:latin typeface="Microsoft YaHei"/>
              </a:rPr>
              <a:t>yield / pH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195560" y="3977639"/>
            <a:ext cx="1554480" cy="658368"/>
          </a:xfrm>
          <a:prstGeom prst="roundRect">
            <a:avLst/>
          </a:prstGeom>
          <a:solidFill>
            <a:srgbClr val="1C5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23576" y="4096511"/>
            <a:ext cx="1298448" cy="23774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WS_CHAR_A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23576" y="4398264"/>
            <a:ext cx="1298448" cy="155447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950" b="0">
                <a:solidFill>
                  <a:srgbClr val="BEDCEB"/>
                </a:solidFill>
                <a:latin typeface="Microsoft YaHei"/>
              </a:rPr>
              <a:t>HPLC / NMR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66560" y="5138928"/>
            <a:ext cx="4389120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D2E2F0"/>
                </a:solidFill>
                <a:latin typeface="Microsoft YaHei"/>
              </a:rPr>
              <a:t>当前定位：仿真调度原型系统，未接入真实实验室硬件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792" y="6272784"/>
            <a:ext cx="402336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BBCDDC"/>
                </a:solidFill>
                <a:latin typeface="Microsoft YaHei"/>
              </a:rPr>
              <a:t>素材依据：README.md / docs/ppt_materials.md / demo_result.json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6C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3474720" cy="38404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0B1F3A"/>
                </a:solidFill>
                <a:latin typeface="Microsoft YaHei"/>
              </a:rPr>
              <a:t>系统总体架构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438912"/>
            <a:ext cx="384048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C6C80"/>
                </a:solidFill>
                <a:latin typeface="Microsoft YaHei"/>
              </a:rPr>
              <a:t>接口层与调度层解耦，形成可运行的仿真闭环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1417320" cy="11155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ED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936" y="1536192"/>
            <a:ext cx="1161288" cy="23774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Microsoft YaHei"/>
              </a:rPr>
              <a:t>用户 /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" y="1837944"/>
            <a:ext cx="1161288" cy="612647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950" b="0">
                <a:solidFill>
                  <a:srgbClr val="5C6C80"/>
                </a:solidFill>
                <a:latin typeface="Microsoft YaHei"/>
              </a:rPr>
              <a:t>agent.py
本地演示入口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993392" y="1865376"/>
            <a:ext cx="320040" cy="164592"/>
          </a:xfrm>
          <a:prstGeom prst="rightArrow">
            <a:avLst/>
          </a:prstGeom>
          <a:solidFill>
            <a:srgbClr val="16C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395728" y="1417320"/>
            <a:ext cx="1691640" cy="11155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E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23744" y="1536192"/>
            <a:ext cx="1435608" cy="23774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Microsoft YaHei"/>
              </a:rPr>
              <a:t>Action Server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23744" y="1837944"/>
            <a:ext cx="1435608" cy="612647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950" b="0">
                <a:solidFill>
                  <a:srgbClr val="5C6C80"/>
                </a:solidFill>
                <a:latin typeface="Microsoft YaHei"/>
              </a:rPr>
              <a:t>servers/action_server.py
工具声明与路由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60520" y="1865376"/>
            <a:ext cx="320040" cy="164592"/>
          </a:xfrm>
          <a:prstGeom prst="rightArrow">
            <a:avLst/>
          </a:prstGeom>
          <a:solidFill>
            <a:srgbClr val="16C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98848" y="1417320"/>
            <a:ext cx="1783080" cy="11155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ED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26864" y="1536192"/>
            <a:ext cx="1527048" cy="23774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Microsoft YaHei"/>
              </a:rPr>
              <a:t>Tools 工具封装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6864" y="1837944"/>
            <a:ext cx="1527048" cy="612647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950" b="0">
                <a:solidFill>
                  <a:srgbClr val="5C6C80"/>
                </a:solidFill>
                <a:latin typeface="Microsoft YaHei"/>
              </a:rPr>
              <a:t>tools/action_server_tools.py
参数转换与错误包装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355080" y="1865376"/>
            <a:ext cx="320040" cy="164592"/>
          </a:xfrm>
          <a:prstGeom prst="rightArrow">
            <a:avLst/>
          </a:prstGeom>
          <a:solidFill>
            <a:srgbClr val="16C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629400" y="1417320"/>
            <a:ext cx="1828800" cy="1115568"/>
          </a:xfrm>
          <a:prstGeom prst="roundRect">
            <a:avLst/>
          </a:prstGeom>
          <a:solidFill>
            <a:srgbClr val="E8F6FA"/>
          </a:solidFill>
          <a:ln w="13970">
            <a:solidFill>
              <a:srgbClr val="1E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57416" y="1536192"/>
            <a:ext cx="1572768" cy="23774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Microsoft YaHei"/>
              </a:rPr>
              <a:t>SchedulingRuntime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57416" y="1837944"/>
            <a:ext cx="1572768" cy="612647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950" b="0">
                <a:solidFill>
                  <a:srgbClr val="5C6C80"/>
                </a:solidFill>
                <a:latin typeface="Microsoft YaHei"/>
              </a:rPr>
              <a:t>scheduling/runtime.py
任务 · 时间 · 状态 · 历史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531352" y="1865376"/>
            <a:ext cx="320040" cy="164592"/>
          </a:xfrm>
          <a:prstGeom prst="rightArrow">
            <a:avLst/>
          </a:prstGeom>
          <a:solidFill>
            <a:srgbClr val="16C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915400" y="1417320"/>
            <a:ext cx="1325880" cy="1115568"/>
          </a:xfrm>
          <a:prstGeom prst="roundRect">
            <a:avLst/>
          </a:prstGeom>
          <a:solidFill>
            <a:srgbClr val="E8F6FA"/>
          </a:solidFill>
          <a:ln w="13970">
            <a:solidFill>
              <a:srgbClr val="1E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43416" y="1536192"/>
            <a:ext cx="1069848" cy="23774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Microsoft YaHei"/>
              </a:rPr>
              <a:t>Scheduler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43416" y="1837944"/>
            <a:ext cx="1069848" cy="612647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950" b="0">
                <a:solidFill>
                  <a:srgbClr val="5C6C80"/>
                </a:solidFill>
                <a:latin typeface="Microsoft YaHei"/>
              </a:rPr>
              <a:t>scheduling/scheduler.py
资源时间线预留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10314432" y="1865376"/>
            <a:ext cx="320040" cy="164592"/>
          </a:xfrm>
          <a:prstGeom prst="rightArrow">
            <a:avLst/>
          </a:prstGeom>
          <a:solidFill>
            <a:srgbClr val="16C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561320" y="1417320"/>
            <a:ext cx="1234440" cy="1115568"/>
          </a:xfrm>
          <a:prstGeom prst="roundRect">
            <a:avLst/>
          </a:prstGeom>
          <a:solidFill>
            <a:srgbClr val="E8F6FA"/>
          </a:solidFill>
          <a:ln w="13970">
            <a:solidFill>
              <a:srgbClr val="BED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89336" y="1536192"/>
            <a:ext cx="978408" cy="23774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Microsoft YaHei"/>
              </a:rPr>
              <a:t>Models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89336" y="1837944"/>
            <a:ext cx="978408" cy="612647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950" b="0">
                <a:solidFill>
                  <a:srgbClr val="5C6C80"/>
                </a:solidFill>
                <a:latin typeface="Microsoft YaHei"/>
              </a:rPr>
              <a:t>Task / Resource
Workstation / Robot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" y="3337560"/>
            <a:ext cx="1965960" cy="74980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ED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3456432"/>
            <a:ext cx="1709928" cy="23774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Microsoft YaHei"/>
              </a:rPr>
              <a:t>examples/*.json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" y="3758184"/>
            <a:ext cx="1709928" cy="246887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950" b="0">
                <a:solidFill>
                  <a:srgbClr val="5C6C80"/>
                </a:solidFill>
                <a:latin typeface="Microsoft YaHei"/>
              </a:rPr>
              <a:t>示例资源、任务、三步 workflow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2331720" y="2944368"/>
            <a:ext cx="822960" cy="164592"/>
          </a:xfrm>
          <a:prstGeom prst="rightArrow">
            <a:avLst/>
          </a:prstGeom>
          <a:solidFill>
            <a:srgbClr val="6DB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864608" y="3273552"/>
            <a:ext cx="2423160" cy="868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E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92624" y="3392424"/>
            <a:ext cx="2167128" cy="23774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Microsoft YaHei"/>
              </a:rPr>
              <a:t>Action Tools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92624" y="3694176"/>
            <a:ext cx="2167128" cy="365759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950" b="0">
                <a:solidFill>
                  <a:srgbClr val="5C6C80"/>
                </a:solidFill>
                <a:latin typeface="Microsoft YaHei"/>
              </a:rPr>
              <a:t>robotic_reaction / measurement
characterization / status / advance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87968" y="3337560"/>
            <a:ext cx="2331720" cy="74980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ED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15984" y="3456432"/>
            <a:ext cx="2075687" cy="23774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Microsoft YaHei"/>
              </a:rPr>
              <a:t>outputs/demo_result.json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15984" y="3758184"/>
            <a:ext cx="2075687" cy="246887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950" b="0">
                <a:solidFill>
                  <a:srgbClr val="5C6C80"/>
                </a:solidFill>
                <a:latin typeface="Microsoft YaHei"/>
              </a:rPr>
              <a:t>结构化 demo 输出与资源使用记录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7406640" y="3639312"/>
            <a:ext cx="1188720" cy="164592"/>
          </a:xfrm>
          <a:prstGeom prst="rightArrow">
            <a:avLst/>
          </a:prstGeom>
          <a:solidFill>
            <a:srgbClr val="6DB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94944" y="4800600"/>
            <a:ext cx="2651760" cy="749808"/>
          </a:xfrm>
          <a:prstGeom prst="roundRect">
            <a:avLst/>
          </a:prstGeom>
          <a:solidFill>
            <a:srgbClr val="E5EEFC"/>
          </a:solidFill>
          <a:ln w="13970">
            <a:solidFill>
              <a:srgbClr val="1E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4919472"/>
            <a:ext cx="2395728" cy="23774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Microsoft YaHei"/>
              </a:rPr>
              <a:t>接口层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221224"/>
            <a:ext cx="2395728" cy="246887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950" b="0">
                <a:solidFill>
                  <a:srgbClr val="5C6C80"/>
                </a:solidFill>
                <a:latin typeface="Microsoft YaHei"/>
              </a:rPr>
              <a:t>暴露 6 个可调用工具，屏蔽调度内部细节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675887" y="4800600"/>
            <a:ext cx="2743200" cy="749808"/>
          </a:xfrm>
          <a:prstGeom prst="roundRect">
            <a:avLst/>
          </a:prstGeom>
          <a:solidFill>
            <a:srgbClr val="E2F8FA"/>
          </a:solidFill>
          <a:ln w="13970">
            <a:solidFill>
              <a:srgbClr val="16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03903" y="4919472"/>
            <a:ext cx="2487168" cy="23774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Microsoft YaHei"/>
              </a:rPr>
              <a:t>运行时层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03903" y="5221224"/>
            <a:ext cx="2487168" cy="246887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950" b="0">
                <a:solidFill>
                  <a:srgbClr val="5C6C80"/>
                </a:solidFill>
                <a:latin typeface="Microsoft YaHei"/>
              </a:rPr>
              <a:t>维护任务队列、仿真时间、状态快照、执行历史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748272" y="4800600"/>
            <a:ext cx="2651760" cy="749808"/>
          </a:xfrm>
          <a:prstGeom prst="roundRect">
            <a:avLst/>
          </a:prstGeom>
          <a:solidFill>
            <a:srgbClr val="E2F8FA"/>
          </a:solidFill>
          <a:ln w="13970">
            <a:solidFill>
              <a:srgbClr val="16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76288" y="4919472"/>
            <a:ext cx="2395728" cy="23774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Microsoft YaHei"/>
              </a:rPr>
              <a:t>调度层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76288" y="5221224"/>
            <a:ext cx="2395728" cy="246887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950" b="0">
                <a:solidFill>
                  <a:srgbClr val="5C6C80"/>
                </a:solidFill>
                <a:latin typeface="Microsoft YaHei"/>
              </a:rPr>
              <a:t>工作站 / 机器人时间线预留与状态推进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710928" y="4800600"/>
            <a:ext cx="1783080" cy="74980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AB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838944" y="4919472"/>
            <a:ext cx="1527048" cy="23774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Microsoft YaHei"/>
              </a:rPr>
              <a:t>验证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38944" y="5221224"/>
            <a:ext cx="1527048" cy="246887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950" b="0">
                <a:solidFill>
                  <a:srgbClr val="5C6C80"/>
                </a:solidFill>
                <a:latin typeface="Microsoft YaHei"/>
              </a:rPr>
              <a:t>tests + demo smoke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473952"/>
            <a:ext cx="658368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750" b="0">
                <a:solidFill>
                  <a:srgbClr val="5C6C80"/>
                </a:solidFill>
                <a:latin typeface="Microsoft YaHei"/>
              </a:rPr>
              <a:t>AIChemMCP scheduling prototype | simulation / mock hardware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6C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5029200" cy="38404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0B1F3A"/>
                </a:solidFill>
                <a:latin typeface="Microsoft YaHei"/>
              </a:rPr>
              <a:t>Demo 演示流程 / 调度闭环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0" y="438912"/>
            <a:ext cx="3977639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919" b="0">
                <a:solidFill>
                  <a:srgbClr val="5C6C80"/>
                </a:solidFill>
                <a:latin typeface="Microsoft YaHei"/>
              </a:rPr>
              <a:t>真实输出依据：AIChemMCP-main/outputs/demo_result.json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325880"/>
            <a:ext cx="2514600" cy="89611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E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444752"/>
            <a:ext cx="2258568" cy="23774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Microsoft YaHei"/>
              </a:rPr>
              <a:t>提交任务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746504"/>
            <a:ext cx="2258568" cy="393191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950" b="0">
                <a:solidFill>
                  <a:srgbClr val="5C6C80"/>
                </a:solidFill>
                <a:latin typeface="Microsoft YaHei"/>
              </a:rPr>
              <a:t>time 0-4
4 个任务进入运行时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364991" y="1682495"/>
            <a:ext cx="1005840" cy="164592"/>
          </a:xfrm>
          <a:prstGeom prst="rightArrow">
            <a:avLst/>
          </a:prstGeom>
          <a:solidFill>
            <a:srgbClr val="16C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26280" y="1325880"/>
            <a:ext cx="2514600" cy="89611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6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54296" y="1444752"/>
            <a:ext cx="2258568" cy="23774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Microsoft YaHei"/>
              </a:rPr>
              <a:t>推进时间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54296" y="1746504"/>
            <a:ext cx="2258568" cy="393191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950" b="0">
                <a:solidFill>
                  <a:srgbClr val="5C6C80"/>
                </a:solidFill>
                <a:latin typeface="Microsoft YaHei"/>
              </a:rPr>
              <a:t>time 39
TASK-0001 完成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178040" y="1682495"/>
            <a:ext cx="1005840" cy="164592"/>
          </a:xfrm>
          <a:prstGeom prst="rightArrow">
            <a:avLst/>
          </a:prstGeom>
          <a:solidFill>
            <a:srgbClr val="16C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39327" y="1325880"/>
            <a:ext cx="2514600" cy="89611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6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67344" y="1444752"/>
            <a:ext cx="2258568" cy="23774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Microsoft YaHei"/>
              </a:rPr>
              <a:t>运行到完成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67344" y="1746504"/>
            <a:ext cx="2258568" cy="393191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950" b="0">
                <a:solidFill>
                  <a:srgbClr val="5C6C80"/>
                </a:solidFill>
                <a:latin typeface="Microsoft YaHei"/>
              </a:rPr>
              <a:t>time 152
all_completed: true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2880360"/>
            <a:ext cx="2057400" cy="658368"/>
          </a:xfrm>
          <a:prstGeom prst="roundRect">
            <a:avLst/>
          </a:prstGeom>
          <a:solidFill>
            <a:srgbClr val="E8F6FA"/>
          </a:solidFill>
          <a:ln w="13970">
            <a:solidFill>
              <a:srgbClr val="16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2999232"/>
            <a:ext cx="1801368" cy="23774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Microsoft YaHei"/>
              </a:rPr>
              <a:t>工具调用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3300984"/>
            <a:ext cx="1801368" cy="155447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950" b="0">
                <a:solidFill>
                  <a:srgbClr val="5C6C80"/>
                </a:solidFill>
                <a:latin typeface="Microsoft YaHei"/>
              </a:rPr>
              <a:t>robotic_* / scheduler_*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46120" y="2880360"/>
            <a:ext cx="2057400" cy="658368"/>
          </a:xfrm>
          <a:prstGeom prst="roundRect">
            <a:avLst/>
          </a:prstGeom>
          <a:solidFill>
            <a:srgbClr val="E8F6FA"/>
          </a:solidFill>
          <a:ln w="13970">
            <a:solidFill>
              <a:srgbClr val="16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74136" y="2999232"/>
            <a:ext cx="1801368" cy="23774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Microsoft YaHei"/>
              </a:rPr>
              <a:t>Runtime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74136" y="3300984"/>
            <a:ext cx="1801368" cy="155447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950" b="0">
                <a:solidFill>
                  <a:srgbClr val="5C6C80"/>
                </a:solidFill>
                <a:latin typeface="Microsoft YaHei"/>
              </a:rPr>
              <a:t>任务、时间、状态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79008" y="2880360"/>
            <a:ext cx="2057400" cy="658368"/>
          </a:xfrm>
          <a:prstGeom prst="roundRect">
            <a:avLst/>
          </a:prstGeom>
          <a:solidFill>
            <a:srgbClr val="E8F6FA"/>
          </a:solidFill>
          <a:ln w="13970">
            <a:solidFill>
              <a:srgbClr val="16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07024" y="2999232"/>
            <a:ext cx="1801368" cy="23774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Microsoft YaHei"/>
              </a:rPr>
              <a:t>Scheduler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7024" y="3300984"/>
            <a:ext cx="1801368" cy="155447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950" b="0">
                <a:solidFill>
                  <a:srgbClr val="5C6C80"/>
                </a:solidFill>
                <a:latin typeface="Microsoft YaHei"/>
              </a:rPr>
              <a:t>资源时间线预留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11896" y="2880360"/>
            <a:ext cx="2057400" cy="658368"/>
          </a:xfrm>
          <a:prstGeom prst="roundRect">
            <a:avLst/>
          </a:prstGeom>
          <a:solidFill>
            <a:srgbClr val="E8F6FA"/>
          </a:solidFill>
          <a:ln w="13970">
            <a:solidFill>
              <a:srgbClr val="16C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39912" y="2999232"/>
            <a:ext cx="1801368" cy="23774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Microsoft YaHei"/>
              </a:rPr>
              <a:t>状态快照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39912" y="3300984"/>
            <a:ext cx="1801368" cy="155447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950" b="0">
                <a:solidFill>
                  <a:srgbClr val="5C6C80"/>
                </a:solidFill>
                <a:latin typeface="Microsoft YaHei"/>
              </a:rPr>
              <a:t>runtime_status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90288" y="4005072"/>
            <a:ext cx="2560320" cy="6583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E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18303" y="4123944"/>
            <a:ext cx="2304287" cy="23774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Microsoft YaHei"/>
              </a:rPr>
              <a:t>demo_result.json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18303" y="4425696"/>
            <a:ext cx="2304287" cy="155447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950" b="0">
                <a:solidFill>
                  <a:srgbClr val="5C6C80"/>
                </a:solidFill>
                <a:latin typeface="Microsoft YaHei"/>
              </a:rPr>
              <a:t>结构化输出归档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2788920" y="3099816"/>
            <a:ext cx="384048" cy="146304"/>
          </a:xfrm>
          <a:prstGeom prst="rightArrow">
            <a:avLst/>
          </a:prstGeom>
          <a:solidFill>
            <a:srgbClr val="16C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ight Arrow 31"/>
          <p:cNvSpPr/>
          <p:nvPr/>
        </p:nvSpPr>
        <p:spPr>
          <a:xfrm>
            <a:off x="5321808" y="3099816"/>
            <a:ext cx="384048" cy="146304"/>
          </a:xfrm>
          <a:prstGeom prst="rightArrow">
            <a:avLst/>
          </a:prstGeom>
          <a:solidFill>
            <a:srgbClr val="16C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ight Arrow 32"/>
          <p:cNvSpPr/>
          <p:nvPr/>
        </p:nvSpPr>
        <p:spPr>
          <a:xfrm>
            <a:off x="7854696" y="3099816"/>
            <a:ext cx="384048" cy="146304"/>
          </a:xfrm>
          <a:prstGeom prst="rightArrow">
            <a:avLst/>
          </a:prstGeom>
          <a:solidFill>
            <a:srgbClr val="16C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ight Arrow 33"/>
          <p:cNvSpPr/>
          <p:nvPr/>
        </p:nvSpPr>
        <p:spPr>
          <a:xfrm>
            <a:off x="5596128" y="3675887"/>
            <a:ext cx="713232" cy="137160"/>
          </a:xfrm>
          <a:prstGeom prst="rightArrow">
            <a:avLst/>
          </a:prstGeom>
          <a:solidFill>
            <a:srgbClr val="6DB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13232" y="5230368"/>
            <a:ext cx="1920240" cy="6583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ED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" y="5349240"/>
            <a:ext cx="1664208" cy="23774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Microsoft YaHei"/>
              </a:rPr>
              <a:t>4 tasks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" y="5650992"/>
            <a:ext cx="1664208" cy="155447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950" b="0">
                <a:solidFill>
                  <a:srgbClr val="5C6C80"/>
                </a:solidFill>
                <a:latin typeface="Microsoft YaHei"/>
              </a:rPr>
              <a:t>TASK-0001 ~ TASK-0004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880360" y="5230368"/>
            <a:ext cx="1920240" cy="6583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ED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08376" y="5349240"/>
            <a:ext cx="1664208" cy="23774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Microsoft YaHei"/>
              </a:rPr>
              <a:t>3-step workflow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08376" y="5650992"/>
            <a:ext cx="1664208" cy="155447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950" b="0">
                <a:solidFill>
                  <a:srgbClr val="5C6C80"/>
                </a:solidFill>
                <a:latin typeface="Microsoft YaHei"/>
              </a:rPr>
              <a:t>reaction -&gt; yield -&gt; hplc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47488" y="5230368"/>
            <a:ext cx="1920240" cy="6583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ED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75503" y="5349240"/>
            <a:ext cx="1664208" cy="23774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Microsoft YaHei"/>
              </a:rPr>
              <a:t>simulation_time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75503" y="5650992"/>
            <a:ext cx="1664208" cy="155447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950" b="0">
                <a:solidFill>
                  <a:srgbClr val="5C6C80"/>
                </a:solidFill>
                <a:latin typeface="Microsoft YaHei"/>
              </a:rPr>
              <a:t>152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214616" y="5230368"/>
            <a:ext cx="1920240" cy="658368"/>
          </a:xfrm>
          <a:prstGeom prst="roundRect">
            <a:avLst/>
          </a:prstGeom>
          <a:solidFill>
            <a:srgbClr val="E6FAF0"/>
          </a:solidFill>
          <a:ln w="13970">
            <a:solidFill>
              <a:srgbClr val="2AB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42631" y="5349240"/>
            <a:ext cx="1664208" cy="23774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Microsoft YaHei"/>
              </a:rPr>
              <a:t>all_completed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42631" y="5650992"/>
            <a:ext cx="1664208" cy="155447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950" b="0">
                <a:solidFill>
                  <a:srgbClr val="2AB577"/>
                </a:solidFill>
                <a:latin typeface="Microsoft YaHei"/>
              </a:rPr>
              <a:t>true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381744" y="5230368"/>
            <a:ext cx="1920240" cy="6583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ED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509760" y="5349240"/>
            <a:ext cx="1664208" cy="23774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Microsoft YaHei"/>
              </a:rPr>
              <a:t>tests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09760" y="5650992"/>
            <a:ext cx="1664208" cy="155447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950" b="0">
                <a:solidFill>
                  <a:srgbClr val="5C6C80"/>
                </a:solidFill>
                <a:latin typeface="Microsoft YaHei"/>
              </a:rPr>
              <a:t>8 unittest OK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3232" y="6108192"/>
            <a:ext cx="5303520" cy="219456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850" b="0">
                <a:solidFill>
                  <a:srgbClr val="5C6C80"/>
                </a:solidFill>
                <a:latin typeface="Microsoft YaHei"/>
              </a:rPr>
              <a:t>说明：当前演示为 simulation / mock hardware，不声明真实硬件接入。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473952"/>
            <a:ext cx="658368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750" b="0">
                <a:solidFill>
                  <a:srgbClr val="5C6C80"/>
                </a:solidFill>
                <a:latin typeface="Microsoft YaHei"/>
              </a:rPr>
              <a:t>AIChemMCP scheduling prototype | simulation / mock hardware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