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406640" y="804672"/>
            <a:ext cx="3840480" cy="3840480"/>
          </a:xfrm>
          <a:prstGeom prst="arc">
            <a:avLst/>
          </a:prstGeom>
          <a:solidFill>
            <a:srgbClr val="091A30"/>
          </a:solidFill>
          <a:ln w="15240">
            <a:solidFill>
              <a:srgbClr val="22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973568" y="1325880"/>
            <a:ext cx="2743200" cy="2743200"/>
          </a:xfrm>
          <a:prstGeom prst="arc">
            <a:avLst/>
          </a:prstGeom>
          <a:solidFill>
            <a:srgbClr val="091A30"/>
          </a:solidFill>
          <a:ln w="12700">
            <a:solidFill>
              <a:srgbClr val="177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1920240"/>
            <a:ext cx="118872" cy="118872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46920" y="2761488"/>
            <a:ext cx="118872" cy="118872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43616" y="1847088"/>
            <a:ext cx="118872" cy="118872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284464" y="1975104"/>
            <a:ext cx="1417320" cy="841248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701784" y="1901952"/>
            <a:ext cx="996696" cy="914400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284464" y="1901952"/>
            <a:ext cx="2414016" cy="73152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85216" y="658368"/>
            <a:ext cx="1737360" cy="347472"/>
          </a:xfrm>
          <a:prstGeom prst="roundRect">
            <a:avLst/>
          </a:prstGeom>
          <a:solidFill>
            <a:srgbClr val="123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745236"/>
            <a:ext cx="1463040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12C4DA"/>
                </a:solidFill>
                <a:latin typeface="Microsoft YaHei"/>
              </a:rPr>
              <a:t>工程实践结题汇报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389888"/>
            <a:ext cx="630936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AIChemMCP
智能调度原型系统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2670048"/>
            <a:ext cx="516636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D2E4F0"/>
                </a:solidFill>
                <a:latin typeface="Microsoft YaHei"/>
              </a:rPr>
              <a:t>面向自动化化学实验流程的仿真调度与模拟设备接口原型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3310128"/>
            <a:ext cx="1234440" cy="292608"/>
          </a:xfrm>
          <a:prstGeom prst="round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3369564"/>
            <a:ext cx="1143000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AIMCP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3310128"/>
            <a:ext cx="1536192" cy="292608"/>
          </a:xfrm>
          <a:prstGeom prst="roundRect">
            <a:avLst/>
          </a:prstGeom>
          <a:solidFill>
            <a:srgbClr val="185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79" y="3369564"/>
            <a:ext cx="1444751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Action 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39312" y="3310128"/>
            <a:ext cx="1719072" cy="292608"/>
          </a:xfrm>
          <a:prstGeom prst="round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85032" y="3369564"/>
            <a:ext cx="1627631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Scheduling Runtime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11696" y="4224528"/>
            <a:ext cx="4480560" cy="1234440"/>
          </a:xfrm>
          <a:prstGeom prst="roundRect">
            <a:avLst/>
          </a:prstGeom>
          <a:solidFill>
            <a:srgbClr val="0E3252"/>
          </a:solidFill>
          <a:ln w="12700">
            <a:solidFill>
              <a:srgbClr val="2E8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4498848"/>
            <a:ext cx="3977639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Agent -&gt; Runtime -&gt; Scheduler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882896"/>
            <a:ext cx="38404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C4E1EE"/>
                </a:solidFill>
                <a:latin typeface="Microsoft YaHei"/>
              </a:rPr>
              <a:t>任务提交 · 资源调度 · 状态反馈 · 结果归档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5596128"/>
            <a:ext cx="4096512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60" b="0">
                <a:solidFill>
                  <a:srgbClr val="C0D6E3"/>
                </a:solidFill>
                <a:latin typeface="Microsoft YaHei"/>
              </a:rPr>
              <a:t>当前定位：仿真调度原型，未接入真实实验室硬件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B9CFE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汇报框架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按照“需求—设计—实现—测试—总结”的工程过程展开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480060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09928"/>
            <a:ext cx="6400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E6BFF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19072"/>
            <a:ext cx="31089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Microsoft YaHei"/>
              </a:rPr>
              <a:t>项目背景与目标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75688"/>
            <a:ext cx="338328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80"/>
                </a:solidFill>
                <a:latin typeface="Microsoft YaHei"/>
              </a:rPr>
              <a:t>为什么做调度集成
本项目完成什么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480060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09928"/>
            <a:ext cx="6400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C4D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9" y="1719072"/>
            <a:ext cx="31089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Microsoft YaHei"/>
              </a:rPr>
              <a:t>系统设计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2075688"/>
            <a:ext cx="338328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80"/>
                </a:solidFill>
                <a:latin typeface="Microsoft YaHei"/>
              </a:rPr>
              <a:t>架构、调用链
模型与状态流转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20440"/>
            <a:ext cx="480060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21608"/>
            <a:ext cx="6400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C4D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730752"/>
            <a:ext cx="31089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Microsoft YaHei"/>
              </a:rPr>
              <a:t>实现与演示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087368"/>
            <a:ext cx="338328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80"/>
                </a:solidFill>
                <a:latin typeface="Microsoft YaHei"/>
              </a:rPr>
              <a:t>接口、示例数据
Demo 闭环与输出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20440"/>
            <a:ext cx="480060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21608"/>
            <a:ext cx="6400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C4D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3730752"/>
            <a:ext cx="31089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Microsoft YaHei"/>
              </a:rPr>
              <a:t>测试与总结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4087368"/>
            <a:ext cx="338328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80"/>
                </a:solidFill>
                <a:latin typeface="Microsoft YaHei"/>
              </a:rPr>
              <a:t>测试验证、工程化
不足与后续扩展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9904" y="1280160"/>
            <a:ext cx="0" cy="4434840"/>
          </a:xfrm>
          <a:prstGeom prst="line">
            <a:avLst/>
          </a:prstGeom>
          <a:ln w="10160">
            <a:solidFill>
              <a:srgbClr val="C6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41248" y="3438144"/>
            <a:ext cx="10241280" cy="0"/>
          </a:xfrm>
          <a:prstGeom prst="line">
            <a:avLst/>
          </a:prstGeom>
          <a:ln w="10160">
            <a:solidFill>
              <a:srgbClr val="C6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自动化实验任务需要从“计划”走向“可调度执行”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4754880" cy="4206240"/>
          </a:xfrm>
          <a:prstGeom prst="roundRect">
            <a:avLst/>
          </a:prstGeom>
          <a:solidFill>
            <a:srgbClr val="EBF6FA"/>
          </a:solidFill>
          <a:ln w="10160">
            <a:solidFill>
              <a:srgbClr val="D3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02336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91A30"/>
                </a:solidFill>
                <a:latin typeface="Microsoft YaHei"/>
              </a:rPr>
              <a:t>AI for Chemistry 场景</a:t>
            </a:r>
          </a:p>
        </p:txBody>
      </p:sp>
      <p:sp>
        <p:nvSpPr>
          <p:cNvPr id="7" name="Oval 6"/>
          <p:cNvSpPr/>
          <p:nvPr/>
        </p:nvSpPr>
        <p:spPr>
          <a:xfrm>
            <a:off x="1143000" y="2743200"/>
            <a:ext cx="9601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2898648"/>
            <a:ext cx="822960" cy="1188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91A30"/>
                </a:solidFill>
                <a:latin typeface="Microsoft YaHei"/>
              </a:rPr>
              <a:t>实验目标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2240280"/>
            <a:ext cx="9601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2395728"/>
            <a:ext cx="822960" cy="1188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91A30"/>
                </a:solidFill>
                <a:latin typeface="Microsoft YaHei"/>
              </a:rPr>
              <a:t>任务队列</a:t>
            </a:r>
          </a:p>
        </p:txBody>
      </p:sp>
      <p:sp>
        <p:nvSpPr>
          <p:cNvPr id="11" name="Oval 10"/>
          <p:cNvSpPr/>
          <p:nvPr/>
        </p:nvSpPr>
        <p:spPr>
          <a:xfrm>
            <a:off x="4069080" y="3154680"/>
            <a:ext cx="9601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42232" y="3310128"/>
            <a:ext cx="822960" cy="1188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91A30"/>
                </a:solidFill>
                <a:latin typeface="Microsoft YaHei"/>
              </a:rPr>
              <a:t>设备资源</a:t>
            </a:r>
          </a:p>
        </p:txBody>
      </p:sp>
      <p:sp>
        <p:nvSpPr>
          <p:cNvPr id="13" name="Oval 12"/>
          <p:cNvSpPr/>
          <p:nvPr/>
        </p:nvSpPr>
        <p:spPr>
          <a:xfrm>
            <a:off x="2514600" y="4160520"/>
            <a:ext cx="9601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7752" y="4315968"/>
            <a:ext cx="822960" cy="1188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91A30"/>
                </a:solidFill>
                <a:latin typeface="Microsoft YaHei"/>
              </a:rPr>
              <a:t>状态反馈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783080" y="2514600"/>
            <a:ext cx="1005840" cy="457200"/>
          </a:xfrm>
          <a:prstGeom prst="line">
            <a:avLst/>
          </a:prstGeom>
          <a:ln w="13970">
            <a:solidFill>
              <a:srgbClr val="12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29000" y="2487168"/>
            <a:ext cx="685800" cy="850392"/>
          </a:xfrm>
          <a:prstGeom prst="line">
            <a:avLst/>
          </a:prstGeom>
          <a:ln w="13970">
            <a:solidFill>
              <a:srgbClr val="12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017520" y="3584448"/>
            <a:ext cx="1143000" cy="667512"/>
          </a:xfrm>
          <a:prstGeom prst="line">
            <a:avLst/>
          </a:prstGeom>
          <a:ln w="13970">
            <a:solidFill>
              <a:srgbClr val="12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691640" y="3218688"/>
            <a:ext cx="868680" cy="1033272"/>
          </a:xfrm>
          <a:prstGeom prst="line">
            <a:avLst/>
          </a:prstGeom>
          <a:ln w="13970">
            <a:solidFill>
              <a:srgbClr val="12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021324" y="1513332"/>
            <a:ext cx="24688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89320" y="1481328"/>
            <a:ext cx="24688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481328"/>
            <a:ext cx="91440" cy="96012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627632"/>
            <a:ext cx="2148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任务不是单点动作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920240"/>
            <a:ext cx="21488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反应、测量、表征需要排队和状态跟踪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64524" y="1513332"/>
            <a:ext cx="24688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732520" y="1481328"/>
            <a:ext cx="24688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32520" y="1481328"/>
            <a:ext cx="91440" cy="9601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1627632"/>
            <a:ext cx="2148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资源存在竞争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1920240"/>
            <a:ext cx="21488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工作站与机器人需要时间线预留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21324" y="2939796"/>
            <a:ext cx="24688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89320" y="2907792"/>
            <a:ext cx="24688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89320" y="2907792"/>
            <a:ext cx="91440" cy="9601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3054096"/>
            <a:ext cx="2148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需要工程闭环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346704"/>
            <a:ext cx="21488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接口、运行时、输出归档和测试验证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64524" y="2939796"/>
            <a:ext cx="24688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732520" y="2907792"/>
            <a:ext cx="24688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32520" y="2907792"/>
            <a:ext cx="91440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3054096"/>
            <a:ext cx="2148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先做仿真原型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346704"/>
            <a:ext cx="21488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为后续硬件协议接入预留结构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0" y="4572000"/>
            <a:ext cx="5212080" cy="685800"/>
          </a:xfrm>
          <a:prstGeom prst="roundRect">
            <a:avLst/>
          </a:prstGeom>
          <a:solidFill>
            <a:srgbClr val="EFF5FA"/>
          </a:solidFill>
          <a:ln w="12700">
            <a:solidFill>
              <a:srgbClr val="AFC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3912" y="4823460"/>
            <a:ext cx="4882896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Microsoft YaHei"/>
              </a:rPr>
              <a:t>此处可补充项目背景或课程要求截图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项目目标与建设内容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构建可运行、可验证、可扩展的仿真调度原型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" y="1632204"/>
            <a:ext cx="2331720" cy="14173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91440" cy="141732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46504"/>
            <a:ext cx="20116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91A30"/>
                </a:solidFill>
                <a:latin typeface="Microsoft YaHei"/>
              </a:rPr>
              <a:t>任务抽象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2011679" cy="9144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反应 / 测量 / 表征
封装为可调度任务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6724" y="1632204"/>
            <a:ext cx="2331720" cy="14173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600200"/>
            <a:ext cx="91440" cy="14173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746504"/>
            <a:ext cx="20116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91A30"/>
                </a:solidFill>
                <a:latin typeface="Microsoft YaHei"/>
              </a:rPr>
              <a:t>资源抽象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039112"/>
            <a:ext cx="2011679" cy="9144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Workstation / Robot / Tool
描述模拟实验室资源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5644" y="1632204"/>
            <a:ext cx="2331720" cy="14173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600200"/>
            <a:ext cx="91440" cy="14173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746504"/>
            <a:ext cx="20116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91A30"/>
                </a:solidFill>
                <a:latin typeface="Microsoft YaHei"/>
              </a:rPr>
              <a:t>调度运行时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039112"/>
            <a:ext cx="2011679" cy="9144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维护任务、时间、状态
和执行历史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4563" y="1632204"/>
            <a:ext cx="2331720" cy="14173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2559" y="160020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59" y="1600200"/>
            <a:ext cx="91440" cy="1417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39" y="1746504"/>
            <a:ext cx="20116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91A30"/>
                </a:solidFill>
                <a:latin typeface="Microsoft YaHei"/>
              </a:rPr>
              <a:t>接口闭环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39" y="2039112"/>
            <a:ext cx="2011679" cy="9144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Action Server 暴露工具
demo 输出归档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57400" y="3977639"/>
            <a:ext cx="8138160" cy="1051560"/>
          </a:xfrm>
          <a:prstGeom prst="roundRect">
            <a:avLst/>
          </a:prstGeom>
          <a:solidFill>
            <a:srgbClr val="EBF6FA"/>
          </a:solidFill>
          <a:ln w="10160">
            <a:solidFill>
              <a:srgbClr val="CD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23160" y="4233672"/>
            <a:ext cx="740664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091A30"/>
                </a:solidFill>
                <a:latin typeface="Microsoft YaHei"/>
              </a:rPr>
              <a:t>目标边界：当前展示的是 simulation / mock hardware 调度闭环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636008"/>
            <a:ext cx="71323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5B6C80"/>
                </a:solidFill>
                <a:latin typeface="Microsoft YaHei"/>
              </a:rPr>
              <a:t>不声明真实机械臂、真实仪器或真实实验执行已经接入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功能、质量、展示三类需求共同约束工程实现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72768"/>
            <a:ext cx="2971800" cy="3931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56231"/>
            <a:ext cx="420624" cy="420624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55064" y="1892807"/>
            <a:ext cx="155448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Microsoft YaHei"/>
              </a:rPr>
              <a:t>功能需求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4168" y="2578608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2638044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任务提交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44168" y="3108960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3168396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状态查询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4168" y="3639311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698748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时间推进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44168" y="4169663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29100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运行到完成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572768"/>
            <a:ext cx="2971800" cy="3931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0600" y="1856231"/>
            <a:ext cx="420624" cy="420624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4" y="1892807"/>
            <a:ext cx="155448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Microsoft YaHei"/>
              </a:rPr>
              <a:t>非功能需求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7488" y="2578608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3207" y="2638044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结构清晰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47488" y="3108960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93207" y="3168396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可复现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47488" y="3639311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3207" y="3698748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错误可返回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47488" y="4169663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3207" y="4229100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结果可追踪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19" y="1572768"/>
            <a:ext cx="2971800" cy="3931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03919" y="1856231"/>
            <a:ext cx="420624" cy="420624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61703" y="1892807"/>
            <a:ext cx="155448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Microsoft YaHei"/>
              </a:rPr>
              <a:t>展示需求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50807" y="2578608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96528" y="2638044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一键 demo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50807" y="3108960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96528" y="3168396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结构化输出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50807" y="3639311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96528" y="3698748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测试结果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50807" y="4169663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96528" y="4229100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截图占位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897880"/>
            <a:ext cx="98755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Microsoft YaHei"/>
              </a:rPr>
              <a:t>实现原则：先完成可运行的软件原型，再为后续真实硬件接入保留边界。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系统总体架构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接口层与调度层解耦，形成可运行的仿真调度闭环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234440"/>
            <a:ext cx="11228832" cy="2240280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444752"/>
            <a:ext cx="1828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1E6BFF"/>
                </a:solidFill>
                <a:latin typeface="Microsoft YaHei"/>
              </a:rPr>
              <a:t>主调用链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" y="1847088"/>
            <a:ext cx="91440" cy="84124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84248"/>
            <a:ext cx="1014983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用户 /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40280"/>
            <a:ext cx="1014983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发起调用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68880"/>
            <a:ext cx="1014983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agent.py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66543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8142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4942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49424" y="1847088"/>
            <a:ext cx="91440" cy="84124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32304" y="1984248"/>
            <a:ext cx="1014983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Action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2304" y="2240280"/>
            <a:ext cx="1014983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工具路由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2304" y="2468880"/>
            <a:ext cx="1014983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servers/action_server.py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621024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3590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0390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03904" y="1847088"/>
            <a:ext cx="91440" cy="84124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86784" y="1984248"/>
            <a:ext cx="1014983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Tools 封装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86784" y="2240280"/>
            <a:ext cx="1014983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参数转换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86784" y="2468880"/>
            <a:ext cx="1014983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tools/action_server_tools.py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175504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9038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58383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58383" y="1847088"/>
            <a:ext cx="91440" cy="84124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41264" y="1984248"/>
            <a:ext cx="1014983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41264" y="2240280"/>
            <a:ext cx="1014983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维护状态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41264" y="2468880"/>
            <a:ext cx="1014983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scheduling/runtime.py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729983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94486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1286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12864" y="1847088"/>
            <a:ext cx="91440" cy="84124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95744" y="1984248"/>
            <a:ext cx="1014983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Scheduler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5744" y="2240280"/>
            <a:ext cx="1014983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资源预留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5744" y="2468880"/>
            <a:ext cx="1014983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scheduling/scheduler.py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8284463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9934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46734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67344" y="1847088"/>
            <a:ext cx="91440" cy="84124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50224" y="1984248"/>
            <a:ext cx="1014983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50224" y="2240280"/>
            <a:ext cx="1014983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任务资源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50224" y="2468880"/>
            <a:ext cx="1014983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scheduling/models.py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9838943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05382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02182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21824" y="1847088"/>
            <a:ext cx="91440" cy="84124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04703" y="1984248"/>
            <a:ext cx="1014983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demo_result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04703" y="2240280"/>
            <a:ext cx="1014983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结果归档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04703" y="2468880"/>
            <a:ext cx="1014983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outputs/demo_result.json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3252" y="3918204"/>
            <a:ext cx="2971800" cy="89611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41248" y="3886200"/>
            <a:ext cx="2971800" cy="8961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41248" y="3886200"/>
            <a:ext cx="91440" cy="896112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4128" y="4032504"/>
            <a:ext cx="26517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输入数据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" y="4325112"/>
            <a:ext cx="2651760" cy="39319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examples/*.json
示例任务、资源、工作流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640580" y="3918204"/>
            <a:ext cx="2971800" cy="89611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608576" y="3886200"/>
            <a:ext cx="2971800" cy="8961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608576" y="3886200"/>
            <a:ext cx="91440" cy="896112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91456" y="4032504"/>
            <a:ext cx="26517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调度能力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325112"/>
            <a:ext cx="2651760" cy="39319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任务提交 / 状态查询
时间推进、执行记录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07908" y="3918204"/>
            <a:ext cx="2971800" cy="89611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375904" y="3886200"/>
            <a:ext cx="2971800" cy="8961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75904" y="3886200"/>
            <a:ext cx="91440" cy="8961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58784" y="4032504"/>
            <a:ext cx="26517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验证闭环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58784" y="4325112"/>
            <a:ext cx="2651760" cy="39319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tests + demo smoke
输出结果可复现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58368" y="5559552"/>
            <a:ext cx="2057400" cy="493776"/>
          </a:xfrm>
          <a:prstGeom prst="roundRect">
            <a:avLst/>
          </a:prstGeom>
          <a:solidFill>
            <a:srgbClr val="09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6384" y="5650992"/>
            <a:ext cx="749808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Microsoft YaHei"/>
              </a:rPr>
              <a:t>接口层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18488" y="5650992"/>
            <a:ext cx="86868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C8E0EE"/>
                </a:solidFill>
                <a:latin typeface="Microsoft YaHei"/>
              </a:rPr>
              <a:t>工具路由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871215" y="5559552"/>
            <a:ext cx="2057400" cy="493776"/>
          </a:xfrm>
          <a:prstGeom prst="round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99232" y="5650992"/>
            <a:ext cx="749808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1">
                <a:solidFill>
                  <a:srgbClr val="091A30"/>
                </a:solidFill>
                <a:latin typeface="Microsoft YaHei"/>
              </a:rPr>
              <a:t>运行时层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31335" y="5650992"/>
            <a:ext cx="86868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5B6C80"/>
                </a:solidFill>
                <a:latin typeface="Microsoft YaHei"/>
              </a:rPr>
              <a:t>状态维护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84064" y="5559552"/>
            <a:ext cx="2057400" cy="493776"/>
          </a:xfrm>
          <a:prstGeom prst="round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12079" y="5650992"/>
            <a:ext cx="749808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1">
                <a:solidFill>
                  <a:srgbClr val="091A30"/>
                </a:solidFill>
                <a:latin typeface="Microsoft YaHei"/>
              </a:rPr>
              <a:t>调度层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44183" y="5650992"/>
            <a:ext cx="86868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5B6C80"/>
                </a:solidFill>
                <a:latin typeface="Microsoft YaHei"/>
              </a:rPr>
              <a:t>资源预留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296912" y="5559552"/>
            <a:ext cx="2057400" cy="493776"/>
          </a:xfrm>
          <a:prstGeom prst="round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24927" y="5650992"/>
            <a:ext cx="749808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1">
                <a:solidFill>
                  <a:srgbClr val="091A30"/>
                </a:solidFill>
                <a:latin typeface="Microsoft YaHei"/>
              </a:rPr>
              <a:t>数据模型层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57031" y="5650992"/>
            <a:ext cx="86868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5B6C80"/>
                </a:solidFill>
                <a:latin typeface="Microsoft YaHei"/>
              </a:rPr>
              <a:t>任务资源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509759" y="5559552"/>
            <a:ext cx="2057400" cy="493776"/>
          </a:xfrm>
          <a:prstGeom prst="round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637776" y="5650992"/>
            <a:ext cx="749808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1">
                <a:solidFill>
                  <a:srgbClr val="091A30"/>
                </a:solidFill>
                <a:latin typeface="Microsoft YaHei"/>
              </a:rPr>
              <a:t>验证层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69880" y="5650992"/>
            <a:ext cx="86868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5B6C80"/>
                </a:solidFill>
                <a:latin typeface="Microsoft YaHei"/>
              </a:rPr>
              <a:t>测试归档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核心调用链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从工具请求到调度状态反馈的闭环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" y="1449324"/>
            <a:ext cx="2651760" cy="107899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417320"/>
            <a:ext cx="265176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417320"/>
            <a:ext cx="91440" cy="1078992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563624"/>
            <a:ext cx="23317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用户 /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232"/>
            <a:ext cx="2331720" cy="57607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发起工具调用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1856232"/>
            <a:ext cx="64008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49724" y="1449324"/>
            <a:ext cx="2651760" cy="107899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417320"/>
            <a:ext cx="265176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1417320"/>
            <a:ext cx="91440" cy="1078992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563624"/>
            <a:ext cx="23317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Action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856232"/>
            <a:ext cx="2331720" cy="57607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解析 JSON-RPC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60920" y="1856232"/>
            <a:ext cx="64008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07324" y="1449324"/>
            <a:ext cx="2651760" cy="107899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1417320"/>
            <a:ext cx="265176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1417320"/>
            <a:ext cx="91440" cy="1078992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563624"/>
            <a:ext cx="23317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1856232"/>
            <a:ext cx="2331720" cy="57607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转为 Runtime 方法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" y="3369564"/>
            <a:ext cx="2651760" cy="107899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" y="3337560"/>
            <a:ext cx="265176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" y="3337560"/>
            <a:ext cx="91440" cy="1078992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3483864"/>
            <a:ext cx="23317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Runtime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776472"/>
            <a:ext cx="2331720" cy="57607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提交任务 / 推进时间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703320" y="3776472"/>
            <a:ext cx="64008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49724" y="3369564"/>
            <a:ext cx="2651760" cy="107899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17720" y="3337560"/>
            <a:ext cx="265176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17720" y="3337560"/>
            <a:ext cx="91440" cy="1078992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483864"/>
            <a:ext cx="23317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Scheduler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3776472"/>
            <a:ext cx="2331720" cy="57607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生成 START_PROCESSING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360920" y="3776472"/>
            <a:ext cx="64008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07324" y="3369564"/>
            <a:ext cx="2651760" cy="107899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75320" y="3337560"/>
            <a:ext cx="265176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20" y="3337560"/>
            <a:ext cx="91440" cy="1078992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3483864"/>
            <a:ext cx="23317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3776472"/>
            <a:ext cx="2331720" cy="57607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返回状态快照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692640" y="2514600"/>
            <a:ext cx="0" cy="640080"/>
          </a:xfrm>
          <a:prstGeom prst="line">
            <a:avLst/>
          </a:prstGeom>
          <a:ln w="15240">
            <a:solidFill>
              <a:srgbClr val="12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ight Arrow 39"/>
          <p:cNvSpPr/>
          <p:nvPr/>
        </p:nvSpPr>
        <p:spPr>
          <a:xfrm>
            <a:off x="9372600" y="3063240"/>
            <a:ext cx="64008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874519" y="5577840"/>
            <a:ext cx="8412480" cy="512064"/>
          </a:xfrm>
          <a:prstGeom prst="roundRect">
            <a:avLst/>
          </a:prstGeom>
          <a:solidFill>
            <a:srgbClr val="E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03120" y="5724144"/>
            <a:ext cx="7955279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5B6C80"/>
                </a:solidFill>
                <a:latin typeface="Microsoft YaHei"/>
              </a:rPr>
              <a:t>真实文件：servers/action_server.py / tools/action_server_tools.py / scheduling/runtime.py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调度模型设计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用统一数据模型承接实验任务和模拟资源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86884" y="2272284"/>
            <a:ext cx="2560320" cy="11430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0" y="2240280"/>
            <a:ext cx="2560320" cy="1143000"/>
          </a:xfrm>
          <a:prstGeom prst="roundRect">
            <a:avLst/>
          </a:prstGeom>
          <a:solidFill>
            <a:srgbClr val="EBF6FA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0" y="2240280"/>
            <a:ext cx="91440" cy="114300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386584"/>
            <a:ext cx="22402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Microsoft YaHei"/>
              </a:rPr>
              <a:t>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679192"/>
            <a:ext cx="2240279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workflow_tools
processing_times
status / current_step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7844" y="1586484"/>
            <a:ext cx="2468880" cy="10058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554480"/>
            <a:ext cx="2468880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1554480"/>
            <a:ext cx="91440" cy="100584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1700784"/>
            <a:ext cx="2148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Resource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993391"/>
            <a:ext cx="21488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timeline
current_task_id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2240280" y="2057400"/>
            <a:ext cx="3794760" cy="749808"/>
          </a:xfrm>
          <a:prstGeom prst="line">
            <a:avLst/>
          </a:prstGeom>
          <a:ln w="11430">
            <a:solidFill>
              <a:srgbClr val="9EB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27364" y="1586484"/>
            <a:ext cx="2468880" cy="10058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95360" y="1554480"/>
            <a:ext cx="2468880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95360" y="1554480"/>
            <a:ext cx="91440" cy="100584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1700784"/>
            <a:ext cx="2148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Workstation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993391"/>
            <a:ext cx="21488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tools
reaction / measure / char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035040" y="2057400"/>
            <a:ext cx="3794760" cy="749808"/>
          </a:xfrm>
          <a:prstGeom prst="line">
            <a:avLst/>
          </a:prstGeom>
          <a:ln w="11430">
            <a:solidFill>
              <a:srgbClr val="9EB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37844" y="4055364"/>
            <a:ext cx="2468880" cy="10058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5840" y="4023360"/>
            <a:ext cx="2468880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" y="4023360"/>
            <a:ext cx="9144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169664"/>
            <a:ext cx="2148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Robot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462272"/>
            <a:ext cx="21488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transfer timeline
RB_1 / RB_2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240280" y="2807208"/>
            <a:ext cx="3794760" cy="1719072"/>
          </a:xfrm>
          <a:prstGeom prst="line">
            <a:avLst/>
          </a:prstGeom>
          <a:ln w="11430">
            <a:solidFill>
              <a:srgbClr val="9EB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627364" y="4055364"/>
            <a:ext cx="2468880" cy="10058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95360" y="4023360"/>
            <a:ext cx="2468880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95360" y="4023360"/>
            <a:ext cx="9144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4169664"/>
            <a:ext cx="2148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Tool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462272"/>
            <a:ext cx="21488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reaction_tool
hplc_tool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35040" y="2807208"/>
            <a:ext cx="3794760" cy="1719072"/>
          </a:xfrm>
          <a:prstGeom prst="line">
            <a:avLst/>
          </a:prstGeom>
          <a:ln w="11430">
            <a:solidFill>
              <a:srgbClr val="9EB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977639" y="4251960"/>
            <a:ext cx="4069080" cy="1170432"/>
          </a:xfrm>
          <a:prstGeom prst="roundRect">
            <a:avLst/>
          </a:prstGeom>
          <a:solidFill>
            <a:srgbClr val="12243A"/>
          </a:solidFill>
          <a:ln w="11430">
            <a:solidFill>
              <a:srgbClr val="24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42231" y="4379976"/>
            <a:ext cx="3739896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1">
                <a:solidFill>
                  <a:srgbClr val="12C4DA"/>
                </a:solidFill>
                <a:latin typeface="Microsoft YaHei"/>
              </a:rPr>
              <a:t>scheduling/models.py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42231" y="4690872"/>
            <a:ext cx="3739896" cy="6035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80" b="0">
                <a:solidFill>
                  <a:srgbClr val="DCEBF4"/>
                </a:solidFill>
                <a:latin typeface="Consolas"/>
              </a:rPr>
              <a:t>TaskStatus: WAITING / RUNNING / COMPLETED / ERROR
ResourceStatus: IDLE / BUSY / RESERVED / TRANSPORTING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任务状态流转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运行时维护任务状态与资源状态的可观测变化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1828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76272"/>
            <a:ext cx="1463040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91A30"/>
                </a:solidFill>
                <a:latin typeface="Microsoft YaHei"/>
              </a:rPr>
              <a:t>WAITING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920240"/>
            <a:ext cx="1828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2176272"/>
            <a:ext cx="1463040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91A30"/>
                </a:solidFill>
                <a:latin typeface="Microsoft YaHei"/>
              </a:rPr>
              <a:t>RUNNING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920240"/>
            <a:ext cx="1828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176272"/>
            <a:ext cx="1463040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91A30"/>
                </a:solidFill>
                <a:latin typeface="Microsoft YaHei"/>
              </a:rPr>
              <a:t>COMPLETED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1920240"/>
            <a:ext cx="1828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2176272"/>
            <a:ext cx="1463040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91A30"/>
                </a:solidFill>
                <a:latin typeface="Microsoft YaHei"/>
              </a:rPr>
              <a:t>ERROR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88920" y="2221992"/>
            <a:ext cx="68580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623560" y="2221992"/>
            <a:ext cx="68580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458200" y="2221992"/>
            <a:ext cx="685800" cy="146304"/>
          </a:xfrm>
          <a:prstGeom prst="rightArrow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2606040"/>
            <a:ext cx="822960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780" b="0">
                <a:solidFill>
                  <a:srgbClr val="5B6C80"/>
                </a:solidFill>
                <a:latin typeface="Microsoft YaHei"/>
              </a:rPr>
              <a:t>调度命令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0992" y="2606040"/>
            <a:ext cx="777240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780" b="0">
                <a:solidFill>
                  <a:srgbClr val="5B6C80"/>
                </a:solidFill>
                <a:latin typeface="Microsoft YaHei"/>
              </a:rPr>
              <a:t>步骤完成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3" y="3781044"/>
            <a:ext cx="288036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749039"/>
            <a:ext cx="288036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3749039"/>
            <a:ext cx="91440" cy="96012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895344"/>
            <a:ext cx="25603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任务状态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187952"/>
            <a:ext cx="25603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WAITING -&gt; RUNNING -&gt; COMPLETED
ERROR 为预留状态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95444" y="3781044"/>
            <a:ext cx="288036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63440" y="3749039"/>
            <a:ext cx="288036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63440" y="3749039"/>
            <a:ext cx="91440" cy="9601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895344"/>
            <a:ext cx="25603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资源状态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187952"/>
            <a:ext cx="25603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IDLE / BUSY / RESERVED
MOVING_TO_PICKUP / TRANSPORTING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44484" y="3781044"/>
            <a:ext cx="288036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80" y="3749039"/>
            <a:ext cx="288036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0" y="3749039"/>
            <a:ext cx="91440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59" y="3895344"/>
            <a:ext cx="25603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状态快照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59" y="4187952"/>
            <a:ext cx="25603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get_runtime_status()
输出任务、资源、历史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工具接口设计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Action Server 对外暴露 6 个真实可调用工具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325880"/>
            <a:ext cx="5120640" cy="4297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27648" y="1325880"/>
            <a:ext cx="5120640" cy="4297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64208"/>
            <a:ext cx="1920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Microsoft YaHei"/>
              </a:rPr>
              <a:t>任务提交类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2" y="1664208"/>
            <a:ext cx="1920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Microsoft YaHei"/>
              </a:rPr>
              <a:t>调度控制类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0995" y="2272284"/>
            <a:ext cx="4343400" cy="56692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8992" y="2240280"/>
            <a:ext cx="4343400" cy="566928"/>
          </a:xfrm>
          <a:prstGeom prst="roundRect">
            <a:avLst/>
          </a:prstGeom>
          <a:solidFill>
            <a:srgbClr val="F1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8992" y="2240280"/>
            <a:ext cx="91440" cy="56692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386584"/>
            <a:ext cx="40233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robotic_reaction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679192"/>
            <a:ext cx="4023360" cy="640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提交反应任务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0995" y="3095244"/>
            <a:ext cx="4343400" cy="56692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78992" y="3063240"/>
            <a:ext cx="4343400" cy="566928"/>
          </a:xfrm>
          <a:prstGeom prst="roundRect">
            <a:avLst/>
          </a:prstGeom>
          <a:solidFill>
            <a:srgbClr val="F1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63240"/>
            <a:ext cx="91440" cy="5669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1872" y="3209544"/>
            <a:ext cx="40233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robotic_measurement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502152"/>
            <a:ext cx="4023360" cy="640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提交测量任务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10995" y="3918204"/>
            <a:ext cx="4343400" cy="56692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78992" y="3886200"/>
            <a:ext cx="4343400" cy="566928"/>
          </a:xfrm>
          <a:prstGeom prst="roundRect">
            <a:avLst/>
          </a:prstGeom>
          <a:solidFill>
            <a:srgbClr val="F1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8992" y="3886200"/>
            <a:ext cx="91440" cy="5669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61872" y="4032504"/>
            <a:ext cx="40233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robotic_characterization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325112"/>
            <a:ext cx="4023360" cy="640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提交表征任务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88836" y="2272284"/>
            <a:ext cx="4343400" cy="56692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56832" y="2240280"/>
            <a:ext cx="4343400" cy="566928"/>
          </a:xfrm>
          <a:prstGeom prst="roundRect">
            <a:avLst/>
          </a:prstGeom>
          <a:solidFill>
            <a:srgbClr val="F1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56832" y="2240280"/>
            <a:ext cx="91440" cy="5669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9712" y="2386584"/>
            <a:ext cx="40233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scheduler_status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2679192"/>
            <a:ext cx="4023360" cy="640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查询状态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88836" y="3095244"/>
            <a:ext cx="4343400" cy="56692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56832" y="3063240"/>
            <a:ext cx="4343400" cy="566928"/>
          </a:xfrm>
          <a:prstGeom prst="roundRect">
            <a:avLst/>
          </a:prstGeom>
          <a:solidFill>
            <a:srgbClr val="F1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56832" y="3063240"/>
            <a:ext cx="91440" cy="5669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39712" y="3209544"/>
            <a:ext cx="40233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scheduler_advance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712" y="3502152"/>
            <a:ext cx="4023360" cy="640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推进时间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88836" y="3918204"/>
            <a:ext cx="4343400" cy="56692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56832" y="3886200"/>
            <a:ext cx="4343400" cy="566928"/>
          </a:xfrm>
          <a:prstGeom prst="roundRect">
            <a:avLst/>
          </a:prstGeom>
          <a:solidFill>
            <a:srgbClr val="F1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56832" y="3886200"/>
            <a:ext cx="9144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39712" y="4032504"/>
            <a:ext cx="40233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scheduler_run_until_complete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4325112"/>
            <a:ext cx="4023360" cy="640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运行到完成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989320"/>
            <a:ext cx="100584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5B6C80"/>
                </a:solidFill>
                <a:latin typeface="Microsoft YaHei"/>
              </a:rPr>
              <a:t>实现依据：servers/action_server.py 的 AVAILABLE_TOOLS_ACTION 与 capability 声明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示例数据与资源设计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使用模拟工作站、机器人和三步 workflow 支撑演示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" y="1403604"/>
            <a:ext cx="3017520" cy="105156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301752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91440" cy="105156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17904"/>
            <a:ext cx="26974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模拟工作站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2697479" cy="54863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WS_REACTOR_A
WS_MEASURE_A
WS_CHAR_A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" y="2820924"/>
            <a:ext cx="3017520" cy="105156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788920"/>
            <a:ext cx="301752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88920"/>
            <a:ext cx="91440" cy="105156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35224"/>
            <a:ext cx="26974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模拟机器人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27832"/>
            <a:ext cx="2697479" cy="54863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RB_1：转运样品
RB_2：备用资源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353312"/>
            <a:ext cx="3200400" cy="2487168"/>
          </a:xfrm>
          <a:prstGeom prst="roundRect">
            <a:avLst/>
          </a:prstGeom>
          <a:solidFill>
            <a:srgbClr val="12243A"/>
          </a:solidFill>
          <a:ln w="11430">
            <a:solidFill>
              <a:srgbClr val="24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81328"/>
            <a:ext cx="2871216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1">
                <a:solidFill>
                  <a:srgbClr val="12C4DA"/>
                </a:solidFill>
                <a:latin typeface="Microsoft YaHei"/>
              </a:rPr>
              <a:t>sample_workflow.json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92224"/>
            <a:ext cx="2871216" cy="19202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80" b="0">
                <a:solidFill>
                  <a:srgbClr val="DCEBF4"/>
                </a:solidFill>
                <a:latin typeface="Consolas"/>
              </a:rPr>
              <a:t>"workflow_tools": [
  "reaction_tool",
  "yield_measurement_tool",
  "hplc_tool"
]
"seamless_steps": [[0, 1]]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41564" y="1403604"/>
            <a:ext cx="3246120" cy="109728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09560" y="1371600"/>
            <a:ext cx="3246120" cy="10972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1371600"/>
            <a:ext cx="9144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517904"/>
            <a:ext cx="29260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三步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810512"/>
            <a:ext cx="2926079" cy="59435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reaction -&gt; yield -&gt; hplc
processing_times: 18 / 12 / 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2907792"/>
            <a:ext cx="3246120" cy="960120"/>
          </a:xfrm>
          <a:prstGeom prst="roundRect">
            <a:avLst/>
          </a:prstGeom>
          <a:solidFill>
            <a:srgbClr val="EFF5FA"/>
          </a:solidFill>
          <a:ln w="12700">
            <a:solidFill>
              <a:srgbClr val="AFC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4152" y="3296412"/>
            <a:ext cx="2916936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Microsoft YaHei"/>
              </a:rPr>
              <a:t>此处可补充 examples JSON 截图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715000"/>
            <a:ext cx="1005840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5B6C80"/>
                </a:solidFill>
                <a:latin typeface="Microsoft YaHei"/>
              </a:rPr>
              <a:t>这些资源均为 simulation/mock 配置，用于验证调度逻辑，不代表真实硬件接入。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Demo 演示流程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从示例数据到结构化输出，验证原型可运行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25880"/>
            <a:ext cx="11045952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673352"/>
            <a:ext cx="493776" cy="493776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10512"/>
            <a:ext cx="256032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091A30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2313432"/>
            <a:ext cx="117043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Microsoft YaHei"/>
              </a:rPr>
              <a:t>加载示例数据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444752" y="1837943"/>
            <a:ext cx="950976" cy="128016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51760" y="1673352"/>
            <a:ext cx="493776" cy="493776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1810512"/>
            <a:ext cx="256032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2313432"/>
            <a:ext cx="117043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Microsoft YaHei"/>
              </a:rPr>
              <a:t>提交实验任务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27832" y="1837943"/>
            <a:ext cx="950976" cy="128016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07408" y="1673352"/>
            <a:ext cx="493776" cy="493776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10512"/>
            <a:ext cx="256032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9936" y="2313432"/>
            <a:ext cx="117043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Microsoft YaHei"/>
              </a:rPr>
              <a:t>分配资源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83480" y="1837943"/>
            <a:ext cx="950976" cy="128016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99048" y="1673352"/>
            <a:ext cx="493776" cy="493776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810512"/>
            <a:ext cx="256032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1576" y="2313432"/>
            <a:ext cx="117043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Microsoft YaHei"/>
              </a:rPr>
              <a:t>推进模拟时间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675120" y="1837943"/>
            <a:ext cx="950976" cy="128016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27264" y="1673352"/>
            <a:ext cx="493776" cy="493776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46136" y="1810512"/>
            <a:ext cx="256032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2313432"/>
            <a:ext cx="117043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Microsoft YaHei"/>
              </a:rPr>
              <a:t>查询状态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403336" y="1837943"/>
            <a:ext cx="950976" cy="128016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55480" y="1673352"/>
            <a:ext cx="493776" cy="493776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74352" y="1810512"/>
            <a:ext cx="256032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7" y="2313432"/>
            <a:ext cx="117043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Microsoft YaHei"/>
              </a:rPr>
              <a:t>输出结果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" y="3735324"/>
            <a:ext cx="2926080" cy="96926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0976" y="3703320"/>
            <a:ext cx="2926080" cy="9692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6" y="3703320"/>
            <a:ext cx="91440" cy="969264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3856" y="3849624"/>
            <a:ext cx="2606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任务状态变化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" y="4142231"/>
            <a:ext cx="2606040" cy="4663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4 个任务全部完成
TASK-0004 为三步 workflow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58868" y="3735324"/>
            <a:ext cx="2926080" cy="96926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3703320"/>
            <a:ext cx="2926080" cy="9692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26864" y="3703320"/>
            <a:ext cx="91440" cy="969264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9744" y="3849624"/>
            <a:ext cx="2606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模拟时间推进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9744" y="4142231"/>
            <a:ext cx="2606040" cy="4663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final time = 152
中途 time 39 产生完成事件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34756" y="3735324"/>
            <a:ext cx="2926080" cy="96926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302752" y="3703320"/>
            <a:ext cx="2926080" cy="9692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02752" y="3703320"/>
            <a:ext cx="91440" cy="9692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5632" y="3849624"/>
            <a:ext cx="2606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输出结果归档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4142231"/>
            <a:ext cx="2606040" cy="4663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demo_result.json
all_completed: true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26080" y="5230368"/>
            <a:ext cx="6327648" cy="530352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82112" y="5376672"/>
            <a:ext cx="580644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Microsoft YaHei"/>
              </a:rPr>
              <a:t>真实依据：AIChemMCP-main/outputs/demo_result.json；当前为 simulation / mock hardware。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Demo 运行结果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结果看板展示任务完成、资源占用与输出归档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224028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1828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1E6BFF"/>
                </a:solidFill>
                <a:latin typeface="Microsoft YaHe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1828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Microsoft YaHei"/>
              </a:rPr>
              <a:t>submitted 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25880"/>
            <a:ext cx="224028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527048"/>
            <a:ext cx="1828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12C4DA"/>
                </a:solidFill>
                <a:latin typeface="Microsoft YaHei"/>
              </a:rPr>
              <a:t>152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947672"/>
            <a:ext cx="1828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Microsoft YaHei"/>
              </a:rPr>
              <a:t>simulation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325880"/>
            <a:ext cx="224028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527048"/>
            <a:ext cx="1828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27AE60"/>
                </a:solidFill>
                <a:latin typeface="Microsoft YaHei"/>
              </a:rPr>
              <a:t>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1947672"/>
            <a:ext cx="1828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Microsoft YaHei"/>
              </a:rPr>
              <a:t>all_completed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999" y="1325880"/>
            <a:ext cx="224028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527048"/>
            <a:ext cx="1828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F59240"/>
                </a:solidFill>
                <a:latin typeface="Microsoft YaHei"/>
              </a:rPr>
              <a:t>113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947672"/>
            <a:ext cx="1828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Microsoft YaHei"/>
              </a:rPr>
              <a:t>steps_run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907792"/>
            <a:ext cx="4846320" cy="2029968"/>
          </a:xfrm>
          <a:prstGeom prst="roundRect">
            <a:avLst/>
          </a:prstGeom>
          <a:solidFill>
            <a:srgbClr val="12243A"/>
          </a:solidFill>
          <a:ln w="11430">
            <a:solidFill>
              <a:srgbClr val="24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3035808"/>
            <a:ext cx="4517136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1">
                <a:solidFill>
                  <a:srgbClr val="12C4DA"/>
                </a:solidFill>
                <a:latin typeface="Microsoft YaHei"/>
              </a:rPr>
              <a:t>demo_result.json 摘要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3346704"/>
            <a:ext cx="4517136" cy="1463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80" b="0">
                <a:solidFill>
                  <a:srgbClr val="DCEBF4"/>
                </a:solidFill>
                <a:latin typeface="Consolas"/>
              </a:rPr>
              <a:t>"demo_mode": "simulation"
"final": {
  "time": 152,
  "all_completed": true
}
"TASK-0004": "COMPLETED"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5644" y="2939796"/>
            <a:ext cx="2377440" cy="9144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2907792"/>
            <a:ext cx="237744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907792"/>
            <a:ext cx="91440" cy="91440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054096"/>
            <a:ext cx="205740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工作站结果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346704"/>
            <a:ext cx="2057400" cy="4114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WS_REACTOR_A
WS_MEASURE_A
WS_CHAR_A
最终均 IDLE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38844" y="2939796"/>
            <a:ext cx="2377440" cy="9144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06840" y="2907792"/>
            <a:ext cx="237744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06840" y="2907792"/>
            <a:ext cx="9144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19" y="3054096"/>
            <a:ext cx="205740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机器人结果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3346704"/>
            <a:ext cx="2057400" cy="4114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RB_1 处理 TASK-0004
RB_2 未占用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343400"/>
            <a:ext cx="5120640" cy="594360"/>
          </a:xfrm>
          <a:prstGeom prst="roundRect">
            <a:avLst/>
          </a:prstGeom>
          <a:solidFill>
            <a:srgbClr val="EFF5FA"/>
          </a:solidFill>
          <a:ln w="12700">
            <a:solidFill>
              <a:srgbClr val="AFC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1" y="4549140"/>
            <a:ext cx="4791455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Microsoft YaHei"/>
              </a:rPr>
              <a:t>此处可补充 demo 运行终端截图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关键功能实现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核心实现围绕运行时封装、调度预留和结构化输出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325880"/>
            <a:ext cx="4983480" cy="3840480"/>
          </a:xfrm>
          <a:prstGeom prst="roundRect">
            <a:avLst/>
          </a:prstGeom>
          <a:solidFill>
            <a:srgbClr val="12243A"/>
          </a:solidFill>
          <a:ln w="11430">
            <a:solidFill>
              <a:srgbClr val="24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53895"/>
            <a:ext cx="4654296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1">
                <a:solidFill>
                  <a:srgbClr val="12C4DA"/>
                </a:solidFill>
                <a:latin typeface="Microsoft YaHei"/>
              </a:rPr>
              <a:t>scheduling/runtime.py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4654296" cy="32735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80" b="0">
                <a:solidFill>
                  <a:srgbClr val="DCEBF4"/>
                </a:solidFill>
                <a:latin typeface="Consolas"/>
              </a:rPr>
              <a:t>submit_task(...)
  validate workflow_tools
  create Task
  scheduler.add_task(task)
  commands = tick(steps=1)
run_until_all_complete(max_steps)
  advance until all COMPLETED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5644" y="1495044"/>
            <a:ext cx="2148840" cy="9144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214884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91440" cy="91440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9344"/>
            <a:ext cx="182880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任务提交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1828800" cy="4114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把实验请求转为 Task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55963" y="1495044"/>
            <a:ext cx="2148840" cy="9144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23959" y="1463040"/>
            <a:ext cx="214884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59" y="1463040"/>
            <a:ext cx="91440" cy="91440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39" y="1609344"/>
            <a:ext cx="182880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资源映射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39" y="1901952"/>
            <a:ext cx="1828800" cy="4114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tool -&gt; workstation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5644" y="2912364"/>
            <a:ext cx="2148840" cy="9144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2880360"/>
            <a:ext cx="214884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880360"/>
            <a:ext cx="91440" cy="91440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026664"/>
            <a:ext cx="182880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时间推进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19272"/>
            <a:ext cx="1828800" cy="4114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tick / advance_time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5963" y="2912364"/>
            <a:ext cx="2148840" cy="9144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823959" y="2880360"/>
            <a:ext cx="214884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23959" y="2880360"/>
            <a:ext cx="9144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39" y="3026664"/>
            <a:ext cx="182880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结果归档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3319272"/>
            <a:ext cx="1828800" cy="4114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demo_result.json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526280"/>
            <a:ext cx="4709160" cy="594360"/>
          </a:xfrm>
          <a:prstGeom prst="roundRect">
            <a:avLst/>
          </a:prstGeom>
          <a:solidFill>
            <a:srgbClr val="EFF5FA"/>
          </a:solidFill>
          <a:ln w="12700">
            <a:solidFill>
              <a:srgbClr val="AFC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1" y="4732020"/>
            <a:ext cx="4379976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Microsoft YaHei"/>
              </a:rPr>
              <a:t>此处可补充 runtime / scheduler 代码截图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异常处理与工程健壮性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输入校验和结构化错误返回让原型更可演示、可测试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" y="1860804"/>
            <a:ext cx="22402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2402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91440" cy="9601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75104"/>
            <a:ext cx="19202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Microsoft YaHei"/>
              </a:rPr>
              <a:t>输入请求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19202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sample_id / steps / workflow_tools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08960" y="2221992"/>
            <a:ext cx="347472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98164" y="1860804"/>
            <a:ext cx="22402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1828800"/>
            <a:ext cx="22402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828800"/>
            <a:ext cx="91440" cy="9601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1975104"/>
            <a:ext cx="19202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Microsoft YaHei"/>
              </a:rPr>
              <a:t>运行时校验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267712"/>
            <a:ext cx="19202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_require_text / _positive_int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97879" y="2221992"/>
            <a:ext cx="347472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87083" y="1860804"/>
            <a:ext cx="22402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79" y="1828800"/>
            <a:ext cx="22402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79" y="1828800"/>
            <a:ext cx="91440" cy="960120"/>
          </a:xfrm>
          <a:prstGeom prst="rect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1975104"/>
            <a:ext cx="19202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Microsoft YaHei"/>
              </a:rPr>
              <a:t>错误包装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267712"/>
            <a:ext cx="19202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_safe_call / _error_response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686800" y="2221992"/>
            <a:ext cx="347472" cy="146304"/>
          </a:xfrm>
          <a:prstGeom prst="rightArrow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76003" y="1860804"/>
            <a:ext cx="22402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3999" y="1828800"/>
            <a:ext cx="22402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3999" y="1828800"/>
            <a:ext cx="91440" cy="960120"/>
          </a:xfrm>
          <a:prstGeom prst="rect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79" y="1975104"/>
            <a:ext cx="19202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Microsoft YaHei"/>
              </a:rPr>
              <a:t>结构化返回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79" y="2267712"/>
            <a:ext cx="19202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INVALID_INPUT + runtime_status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3840480"/>
            <a:ext cx="4663440" cy="1325880"/>
          </a:xfrm>
          <a:prstGeom prst="roundRect">
            <a:avLst/>
          </a:prstGeom>
          <a:solidFill>
            <a:srgbClr val="12243A"/>
          </a:solidFill>
          <a:ln w="11430">
            <a:solidFill>
              <a:srgbClr val="24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4712" y="3968496"/>
            <a:ext cx="4334255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1">
                <a:solidFill>
                  <a:srgbClr val="12C4DA"/>
                </a:solidFill>
                <a:latin typeface="Microsoft YaHei"/>
              </a:rPr>
              <a:t>tools/action_server_tools.py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" y="4279392"/>
            <a:ext cx="4334255" cy="7589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80" b="0">
                <a:solidFill>
                  <a:srgbClr val="DCEBF4"/>
                </a:solidFill>
                <a:latin typeface="Consolas"/>
              </a:rPr>
              <a:t>return { "ok": False,
  "error": {
    "code": "INVALID_INPUT"
  },
  "runtime_status": ... }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32804" y="3872484"/>
            <a:ext cx="4389120" cy="132588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0" y="3840480"/>
            <a:ext cx="43891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3840480"/>
            <a:ext cx="91440" cy="1325880"/>
          </a:xfrm>
          <a:prstGeom prst="rect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986784"/>
            <a:ext cx="406908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边界说明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279392"/>
            <a:ext cx="4069080" cy="82295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已实现基础输入校验与错误返回；真实设备 ACK、超时重试和安全联锁仍属于后续扩展。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测试方案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用标准库 unittest 覆盖模型、调度器、运行时、工具和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417320"/>
            <a:ext cx="9966960" cy="5029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0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572768"/>
            <a:ext cx="1828800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Microsoft YaHei"/>
              </a:rPr>
              <a:t>模型测试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572768"/>
            <a:ext cx="5303520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19" b="0">
                <a:solidFill>
                  <a:srgbClr val="5B6C80"/>
                </a:solidFill>
                <a:latin typeface="Microsoft YaHei"/>
              </a:rPr>
              <a:t>Task 创建、workflow 必填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1527048"/>
            <a:ext cx="1097280" cy="29260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1586484"/>
            <a:ext cx="1005839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unittest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103120"/>
            <a:ext cx="9966960" cy="5029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0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258568"/>
            <a:ext cx="1828800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Microsoft YaHei"/>
              </a:rPr>
              <a:t>调度测试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258568"/>
            <a:ext cx="5303520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19" b="0">
                <a:solidFill>
                  <a:srgbClr val="5B6C80"/>
                </a:solidFill>
                <a:latin typeface="Microsoft YaHei"/>
              </a:rPr>
              <a:t>工作站预留与命令生成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2212848"/>
            <a:ext cx="1097280" cy="29260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272284"/>
            <a:ext cx="1005839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unittest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2788920"/>
            <a:ext cx="9966960" cy="5029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0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944368"/>
            <a:ext cx="1828800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Microsoft YaHei"/>
              </a:rPr>
              <a:t>运行时测试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944368"/>
            <a:ext cx="5303520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19" b="0">
                <a:solidFill>
                  <a:srgbClr val="5B6C80"/>
                </a:solidFill>
                <a:latin typeface="Microsoft YaHei"/>
              </a:rPr>
              <a:t>提交、状态、完成、时间推进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2898648"/>
            <a:ext cx="1097280" cy="29260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958084"/>
            <a:ext cx="1005839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unittest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3474720"/>
            <a:ext cx="9966960" cy="5029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0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3630168"/>
            <a:ext cx="1828800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Microsoft YaHei"/>
              </a:rPr>
              <a:t>错误测试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630168"/>
            <a:ext cx="5303520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19" b="0">
                <a:solidFill>
                  <a:srgbClr val="5B6C80"/>
                </a:solidFill>
                <a:latin typeface="Microsoft YaHei"/>
              </a:rPr>
              <a:t>无效输入返回 INVALID_INPUT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3584448"/>
            <a:ext cx="1097280" cy="29260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3643884"/>
            <a:ext cx="1005839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unittest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4160520"/>
            <a:ext cx="9966960" cy="5029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0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4315968"/>
            <a:ext cx="1828800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Microsoft YaHei"/>
              </a:rPr>
              <a:t>Demo smoke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4315968"/>
            <a:ext cx="5303520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19" b="0">
                <a:solidFill>
                  <a:srgbClr val="5B6C80"/>
                </a:solidFill>
                <a:latin typeface="Microsoft YaHei"/>
              </a:rPr>
              <a:t>生成 demo_result.json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4270248"/>
            <a:ext cx="1097280" cy="29260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4329684"/>
            <a:ext cx="1005839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unittest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257800"/>
            <a:ext cx="98755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C80"/>
                </a:solidFill>
                <a:latin typeface="Microsoft YaHei"/>
              </a:rPr>
              <a:t>入口：AIChemMCP-main/run_tests.py；测试文件：tests/test_scheduling_runtime.py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测试结果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当前运行 8 个测试用例全部通过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71600"/>
            <a:ext cx="3200400" cy="1325880"/>
          </a:xfrm>
          <a:prstGeom prst="roundRect">
            <a:avLst/>
          </a:prstGeom>
          <a:solidFill>
            <a:srgbClr val="E7FAF0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00784"/>
            <a:ext cx="27432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27AE60"/>
                </a:solidFill>
                <a:latin typeface="Microsoft YaHei"/>
              </a:rPr>
              <a:t>8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39696"/>
            <a:ext cx="27432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Microsoft YaHei"/>
              </a:rPr>
              <a:t>Ran 8 tests ... 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6126480" cy="2011680"/>
          </a:xfrm>
          <a:prstGeom prst="roundRect">
            <a:avLst/>
          </a:prstGeom>
          <a:solidFill>
            <a:srgbClr val="12243A"/>
          </a:solidFill>
          <a:ln w="11430">
            <a:solidFill>
              <a:srgbClr val="24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6592" y="1499616"/>
            <a:ext cx="5797296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1">
                <a:solidFill>
                  <a:srgbClr val="12C4DA"/>
                </a:solidFill>
                <a:latin typeface="Microsoft YaHei"/>
              </a:rPr>
              <a:t>python run_tests.py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1810512"/>
            <a:ext cx="5797296" cy="14447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80" b="0">
                <a:solidFill>
                  <a:srgbClr val="DCEBF4"/>
                </a:solidFill>
                <a:latin typeface="Consolas"/>
              </a:rPr>
              <a:t>test_demo_generates_result_file ... ok
test_action_tools_return_structured_error ... ok
test_runtime_submit_status_and_completion ... ok
test_scheduler_basic_reservation ... ok
Ran 8 tests in 0.023s
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069080"/>
            <a:ext cx="9875520" cy="777240"/>
          </a:xfrm>
          <a:prstGeom prst="roundRect">
            <a:avLst/>
          </a:prstGeom>
          <a:solidFill>
            <a:srgbClr val="EFF5FA"/>
          </a:solidFill>
          <a:ln w="12700">
            <a:solidFill>
              <a:srgbClr val="AFC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366260"/>
            <a:ext cx="9546336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Microsoft YaHei"/>
              </a:rPr>
              <a:t>此处可补充测试通过终端截图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577840"/>
            <a:ext cx="98755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C80"/>
                </a:solidFill>
                <a:latin typeface="Microsoft YaHei"/>
              </a:rPr>
              <a:t>测试结果来自本轮本地运行，不涉及外部服务。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工程化实践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从概念验证整理为可运行、可测试、可复现的项目结构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" y="1677924"/>
            <a:ext cx="2240280" cy="150876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45920"/>
            <a:ext cx="2240280" cy="15087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45920"/>
            <a:ext cx="91440" cy="150876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92224"/>
            <a:ext cx="19202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91A30"/>
                </a:solidFill>
                <a:latin typeface="Microsoft YaHei"/>
              </a:rPr>
              <a:t>模块化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84832"/>
            <a:ext cx="1920240" cy="100583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scheduling / servers / tools
边界清晰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43884" y="1677924"/>
            <a:ext cx="2240280" cy="150876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11880" y="1645920"/>
            <a:ext cx="2240280" cy="15087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1645920"/>
            <a:ext cx="91440" cy="150876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19202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91A30"/>
                </a:solidFill>
                <a:latin typeface="Microsoft YaHei"/>
              </a:rPr>
              <a:t>接口封装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084832"/>
            <a:ext cx="1920240" cy="100583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Action Server 暴露工具
Tools 层包装返回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7084" y="1677924"/>
            <a:ext cx="2240280" cy="150876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1645920"/>
            <a:ext cx="2240280" cy="15087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645920"/>
            <a:ext cx="91440" cy="1508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792224"/>
            <a:ext cx="19202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91A30"/>
                </a:solidFill>
                <a:latin typeface="Microsoft YaHei"/>
              </a:rPr>
              <a:t>测试验证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084832"/>
            <a:ext cx="1920240" cy="100583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run_tests.py
8 个 unittest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0284" y="1677924"/>
            <a:ext cx="2240280" cy="150876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98280" y="1645920"/>
            <a:ext cx="2240280" cy="15087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645920"/>
            <a:ext cx="91440" cy="1508760"/>
          </a:xfrm>
          <a:prstGeom prst="rect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59" y="1792224"/>
            <a:ext cx="19202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91A30"/>
                </a:solidFill>
                <a:latin typeface="Microsoft YaHei"/>
              </a:rPr>
              <a:t>文档化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2084832"/>
            <a:ext cx="1920240" cy="100583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README / docs
输出材料归档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069080"/>
            <a:ext cx="4297680" cy="868680"/>
          </a:xfrm>
          <a:prstGeom prst="roundRect">
            <a:avLst/>
          </a:prstGeom>
          <a:solidFill>
            <a:srgbClr val="EFF5FA"/>
          </a:solidFill>
          <a:ln w="12700">
            <a:solidFill>
              <a:srgbClr val="AFC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" y="4411980"/>
            <a:ext cx="3968496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Microsoft YaHei"/>
              </a:rPr>
              <a:t>此处可补充项目目录截图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7004" y="4101084"/>
            <a:ext cx="5349240" cy="86868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15000" y="4069080"/>
            <a:ext cx="5349240" cy="868680"/>
          </a:xfrm>
          <a:prstGeom prst="roundRect">
            <a:avLst/>
          </a:prstGeom>
          <a:solidFill>
            <a:srgbClr val="EBF6FA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5000" y="4069080"/>
            <a:ext cx="91440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4215384"/>
            <a:ext cx="502920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可复现链路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4507992"/>
            <a:ext cx="5029200" cy="36575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python demo.py -&gt; outputs/demo_result.json
python run_tests.py -&gt; 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项目难点与解决方案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难点集中在抽象、解耦、仿真闭环和可测试性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" y="1357884"/>
            <a:ext cx="4114800" cy="53035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411480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91440" cy="530352"/>
          </a:xfrm>
          <a:prstGeom prst="rect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72184"/>
            <a:ext cx="37947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91A30"/>
                </a:solidFill>
                <a:latin typeface="Microsoft YaHei"/>
              </a:rPr>
              <a:t>实验任务抽象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074920" y="1527048"/>
            <a:ext cx="502920" cy="109728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38444" y="1357884"/>
            <a:ext cx="4754880" cy="53035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06440" y="1325880"/>
            <a:ext cx="4754880" cy="530352"/>
          </a:xfrm>
          <a:prstGeom prst="roundRect">
            <a:avLst/>
          </a:prstGeom>
          <a:solidFill>
            <a:srgbClr val="EF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06440" y="1325880"/>
            <a:ext cx="91440" cy="530352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472184"/>
            <a:ext cx="4434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91A30"/>
                </a:solidFill>
                <a:latin typeface="Microsoft YaHei"/>
              </a:rPr>
              <a:t>统一 Task / workflow_tools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" y="2107692"/>
            <a:ext cx="4114800" cy="53035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2075688"/>
            <a:ext cx="411480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075688"/>
            <a:ext cx="91440" cy="530352"/>
          </a:xfrm>
          <a:prstGeom prst="rect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221992"/>
            <a:ext cx="37947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91A30"/>
                </a:solidFill>
                <a:latin typeface="Microsoft YaHei"/>
              </a:rPr>
              <a:t>Agent 与调度解耦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074920" y="2276856"/>
            <a:ext cx="502920" cy="109728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38444" y="2107692"/>
            <a:ext cx="4754880" cy="53035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06440" y="2075688"/>
            <a:ext cx="4754880" cy="530352"/>
          </a:xfrm>
          <a:prstGeom prst="roundRect">
            <a:avLst/>
          </a:prstGeom>
          <a:solidFill>
            <a:srgbClr val="EF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06440" y="2075688"/>
            <a:ext cx="91440" cy="530352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221992"/>
            <a:ext cx="4434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91A30"/>
                </a:solidFill>
                <a:latin typeface="Microsoft YaHei"/>
              </a:rPr>
              <a:t>Action Server + Tools 网关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" y="2857500"/>
            <a:ext cx="4114800" cy="53035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2825496"/>
            <a:ext cx="411480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2825496"/>
            <a:ext cx="91440" cy="530352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2971800"/>
            <a:ext cx="37947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91A30"/>
                </a:solidFill>
                <a:latin typeface="Microsoft YaHei"/>
              </a:rPr>
              <a:t>无硬件条件下演示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074920" y="3026664"/>
            <a:ext cx="502920" cy="109728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38444" y="2857500"/>
            <a:ext cx="4754880" cy="53035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806440" y="2825496"/>
            <a:ext cx="4754880" cy="530352"/>
          </a:xfrm>
          <a:prstGeom prst="roundRect">
            <a:avLst/>
          </a:prstGeom>
          <a:solidFill>
            <a:srgbClr val="EF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06440" y="2825496"/>
            <a:ext cx="91440" cy="530352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2971800"/>
            <a:ext cx="4434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91A30"/>
                </a:solidFill>
                <a:latin typeface="Microsoft YaHei"/>
              </a:rPr>
              <a:t>模拟资源 + 时间线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" y="3607308"/>
            <a:ext cx="4114800" cy="53035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3575304"/>
            <a:ext cx="411480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3575304"/>
            <a:ext cx="91440" cy="530352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3721608"/>
            <a:ext cx="37947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91A30"/>
                </a:solidFill>
                <a:latin typeface="Microsoft YaHei"/>
              </a:rPr>
              <a:t>多资源冲突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074920" y="3776472"/>
            <a:ext cx="502920" cy="109728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38444" y="3607308"/>
            <a:ext cx="4754880" cy="53035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806440" y="3575304"/>
            <a:ext cx="4754880" cy="530352"/>
          </a:xfrm>
          <a:prstGeom prst="roundRect">
            <a:avLst/>
          </a:prstGeom>
          <a:solidFill>
            <a:srgbClr val="EF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06440" y="3575304"/>
            <a:ext cx="91440" cy="530352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3721608"/>
            <a:ext cx="4434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91A30"/>
                </a:solidFill>
                <a:latin typeface="Microsoft YaHei"/>
              </a:rPr>
              <a:t>Scheduler 预留窗口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" y="4357116"/>
            <a:ext cx="4114800" cy="53035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77240" y="4325112"/>
            <a:ext cx="411480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" y="4325112"/>
            <a:ext cx="91440" cy="530352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4471416"/>
            <a:ext cx="37947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91A30"/>
                </a:solidFill>
                <a:latin typeface="Microsoft YaHei"/>
              </a:rPr>
              <a:t>工程验证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074920" y="4526279"/>
            <a:ext cx="502920" cy="109728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838444" y="4357116"/>
            <a:ext cx="4754880" cy="53035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806440" y="4325112"/>
            <a:ext cx="4754880" cy="530352"/>
          </a:xfrm>
          <a:prstGeom prst="roundRect">
            <a:avLst/>
          </a:prstGeom>
          <a:solidFill>
            <a:srgbClr val="EF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806440" y="4325112"/>
            <a:ext cx="91440" cy="5303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89320" y="4471416"/>
            <a:ext cx="4434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91A30"/>
                </a:solidFill>
                <a:latin typeface="Microsoft YaHei"/>
              </a:rPr>
              <a:t>demo + unittest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5715000"/>
            <a:ext cx="98755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Microsoft YaHei"/>
              </a:rPr>
              <a:t>解决方案均落在当前真实代码、demo 和测试中；真实硬件接入仍放在后续扩展。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不足与后续扩展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当前是仿真原型，后续重点是硬件协议、反馈闭环和可视化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" y="1860804"/>
            <a:ext cx="1874519" cy="12344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874519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91440" cy="123444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75104"/>
            <a:ext cx="15544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Microsoft YaHei"/>
              </a:rPr>
              <a:t>当前原型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67712"/>
            <a:ext cx="1554479" cy="7315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simulation / mock
已完成软件闭环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6040" y="2331720"/>
            <a:ext cx="256032" cy="128016"/>
          </a:xfrm>
          <a:prstGeom prst="rightArrow">
            <a:avLst/>
          </a:prstGeom>
          <a:solidFill>
            <a:srgbClr val="9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58084" y="1860804"/>
            <a:ext cx="1874519" cy="12344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1828800"/>
            <a:ext cx="1874519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1828800"/>
            <a:ext cx="91440" cy="123444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975104"/>
            <a:ext cx="15544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Microsoft YaHei"/>
              </a:rPr>
              <a:t>硬件协议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267712"/>
            <a:ext cx="1554479" cy="7315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接入真实设备或
硬件模拟平台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46320" y="2331720"/>
            <a:ext cx="256032" cy="128016"/>
          </a:xfrm>
          <a:prstGeom prst="rightArrow">
            <a:avLst/>
          </a:prstGeom>
          <a:solidFill>
            <a:srgbClr val="9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98364" y="1860804"/>
            <a:ext cx="1874519" cy="12344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66360" y="1828800"/>
            <a:ext cx="1874519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66360" y="1828800"/>
            <a:ext cx="91440" cy="1234440"/>
          </a:xfrm>
          <a:prstGeom prst="rect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1975104"/>
            <a:ext cx="15544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Microsoft YaHei"/>
              </a:rPr>
              <a:t>异常恢复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267712"/>
            <a:ext cx="1554479" cy="7315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ACK / 超时 / 重试
安全联锁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86600" y="2331720"/>
            <a:ext cx="256032" cy="128016"/>
          </a:xfrm>
          <a:prstGeom prst="rightArrow">
            <a:avLst/>
          </a:prstGeom>
          <a:solidFill>
            <a:srgbClr val="9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38644" y="1860804"/>
            <a:ext cx="1874519" cy="12344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1828800"/>
            <a:ext cx="1874519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1828800"/>
            <a:ext cx="91440" cy="123444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1975104"/>
            <a:ext cx="15544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Microsoft YaHei"/>
              </a:rPr>
              <a:t>复杂调度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267712"/>
            <a:ext cx="1554479" cy="7315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依赖约束
反馈重规划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326880" y="2331720"/>
            <a:ext cx="256032" cy="128016"/>
          </a:xfrm>
          <a:prstGeom prst="rightArrow">
            <a:avLst/>
          </a:prstGeom>
          <a:solidFill>
            <a:srgbClr val="9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78924" y="1860804"/>
            <a:ext cx="1874519" cy="12344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46920" y="1828800"/>
            <a:ext cx="1874519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46920" y="1828800"/>
            <a:ext cx="91440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800" y="1975104"/>
            <a:ext cx="15544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Microsoft YaHei"/>
              </a:rPr>
              <a:t>可视化平台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267712"/>
            <a:ext cx="1554479" cy="7315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任务队列
资源时间线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4343400"/>
            <a:ext cx="9966960" cy="777240"/>
          </a:xfrm>
          <a:prstGeom prst="roundRect">
            <a:avLst/>
          </a:prstGeom>
          <a:solidFill>
            <a:srgbClr val="FFF6EC"/>
          </a:solidFill>
          <a:ln w="11430">
            <a:solidFill>
              <a:srgbClr val="F59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4553712"/>
            <a:ext cx="94183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53140"/>
                </a:solidFill>
                <a:latin typeface="Microsoft YaHei"/>
              </a:rPr>
              <a:t>不能写成已完成：真实机械臂控制、真实化学实验、生产级调度、复杂反馈闭环。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406640" y="804672"/>
            <a:ext cx="3840480" cy="3840480"/>
          </a:xfrm>
          <a:prstGeom prst="arc">
            <a:avLst/>
          </a:prstGeom>
          <a:solidFill>
            <a:srgbClr val="091A30"/>
          </a:solidFill>
          <a:ln w="15240">
            <a:solidFill>
              <a:srgbClr val="22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973568" y="1325880"/>
            <a:ext cx="2743200" cy="2743200"/>
          </a:xfrm>
          <a:prstGeom prst="arc">
            <a:avLst/>
          </a:prstGeom>
          <a:solidFill>
            <a:srgbClr val="091A30"/>
          </a:solidFill>
          <a:ln w="12700">
            <a:solidFill>
              <a:srgbClr val="177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1920240"/>
            <a:ext cx="118872" cy="118872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46920" y="2761488"/>
            <a:ext cx="118872" cy="118872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43616" y="1847088"/>
            <a:ext cx="118872" cy="118872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284464" y="1975104"/>
            <a:ext cx="1417320" cy="841248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701784" y="1901952"/>
            <a:ext cx="996696" cy="914400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284464" y="1901952"/>
            <a:ext cx="2414016" cy="73152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658368"/>
            <a:ext cx="182880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C4DA"/>
                </a:solidFill>
                <a:latin typeface="Microsoft YaHei"/>
              </a:rPr>
              <a:t>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298448"/>
            <a:ext cx="6217920" cy="6583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完成从 AIMCP 工具调用
到调度仿真执行的工程闭环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2148840" cy="1005840"/>
          </a:xfrm>
          <a:prstGeom prst="roundRect">
            <a:avLst/>
          </a:prstGeom>
          <a:solidFill>
            <a:srgbClr val="0E3252"/>
          </a:solidFill>
          <a:ln w="10160">
            <a:solidFill>
              <a:srgbClr val="2E8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133087"/>
            <a:ext cx="181051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可运行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480560"/>
            <a:ext cx="1810512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C6DEED"/>
                </a:solidFill>
                <a:latin typeface="Microsoft YaHei"/>
              </a:rPr>
              <a:t>demo.py 输出可归档结果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886200"/>
            <a:ext cx="2148840" cy="1005840"/>
          </a:xfrm>
          <a:prstGeom prst="roundRect">
            <a:avLst/>
          </a:prstGeom>
          <a:solidFill>
            <a:srgbClr val="0E3252"/>
          </a:solidFill>
          <a:ln w="10160">
            <a:solidFill>
              <a:srgbClr val="2E8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4133087"/>
            <a:ext cx="181051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2C4DA"/>
                </a:solidFill>
                <a:latin typeface="Microsoft YaHei"/>
              </a:rPr>
              <a:t>可观测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4480560"/>
            <a:ext cx="1810512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C6DEED"/>
                </a:solidFill>
                <a:latin typeface="Microsoft YaHei"/>
              </a:rPr>
              <a:t>任务、资源、历史状态可查询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86200"/>
            <a:ext cx="2148840" cy="1005840"/>
          </a:xfrm>
          <a:prstGeom prst="roundRect">
            <a:avLst/>
          </a:prstGeom>
          <a:solidFill>
            <a:srgbClr val="0E3252"/>
          </a:solidFill>
          <a:ln w="10160">
            <a:solidFill>
              <a:srgbClr val="2E8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4133087"/>
            <a:ext cx="181051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2C4DA"/>
                </a:solidFill>
                <a:latin typeface="Microsoft YaHei"/>
              </a:rPr>
              <a:t>可验证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480560"/>
            <a:ext cx="1810512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C6DEED"/>
                </a:solidFill>
                <a:latin typeface="Microsoft YaHei"/>
              </a:rPr>
              <a:t>8 个 unittest 本地通过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3886200"/>
            <a:ext cx="2148840" cy="1005840"/>
          </a:xfrm>
          <a:prstGeom prst="roundRect">
            <a:avLst/>
          </a:prstGeom>
          <a:solidFill>
            <a:srgbClr val="0E3252"/>
          </a:solidFill>
          <a:ln w="10160">
            <a:solidFill>
              <a:srgbClr val="2E8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4133087"/>
            <a:ext cx="181051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2C4DA"/>
                </a:solidFill>
                <a:latin typeface="Microsoft YaHei"/>
              </a:rPr>
              <a:t>可扩展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4480560"/>
            <a:ext cx="1810512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C6DEED"/>
                </a:solidFill>
                <a:latin typeface="Microsoft YaHei"/>
              </a:rPr>
              <a:t>为真实设备协议预留结构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5623560"/>
            <a:ext cx="65836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6DEED"/>
                </a:solidFill>
                <a:latin typeface="Microsoft YaHei"/>
              </a:rPr>
              <a:t>当前定位始终是仿真调度原型，不夸大为真实硬件系统。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B9CFE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