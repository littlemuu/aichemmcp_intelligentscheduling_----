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804672"/>
            <a:ext cx="3840480" cy="3840480"/>
          </a:xfrm>
          <a:prstGeom prst="arc">
            <a:avLst/>
          </a:prstGeom>
          <a:solidFill>
            <a:srgbClr val="091A30"/>
          </a:solidFill>
          <a:ln w="15240">
            <a:solidFill>
              <a:srgbClr val="2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973568" y="1325880"/>
            <a:ext cx="2743200" cy="2743200"/>
          </a:xfrm>
          <a:prstGeom prst="arc">
            <a:avLst/>
          </a:prstGeom>
          <a:solidFill>
            <a:srgbClr val="091A30"/>
          </a:solidFill>
          <a:ln w="12700">
            <a:solidFill>
              <a:srgbClr val="17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118872" cy="118872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7614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43616" y="18470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84464" y="1975104"/>
            <a:ext cx="1417320" cy="841248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01784" y="1901952"/>
            <a:ext cx="996696" cy="91440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4" y="1901952"/>
            <a:ext cx="2414016" cy="73152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" y="658368"/>
            <a:ext cx="1737360" cy="347472"/>
          </a:xfrm>
          <a:prstGeom prst="roundRect">
            <a:avLst/>
          </a:prstGeom>
          <a:solidFill>
            <a:srgbClr val="12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745236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1">
                <a:solidFill>
                  <a:srgbClr val="12C4DA"/>
                </a:solidFill>
                <a:latin typeface="Microsoft YaHei"/>
              </a:rPr>
              <a:t>工程实践结题汇报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389888"/>
            <a:ext cx="630936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AIChemMCP
智能调度原型系统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670048"/>
            <a:ext cx="516636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50" b="0">
                <a:solidFill>
                  <a:srgbClr val="D2E4F0"/>
                </a:solidFill>
                <a:latin typeface="Microsoft YaHei"/>
              </a:rPr>
              <a:t>面向自动化化学实验流程的仿真调度与模拟设备接口原型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310128"/>
            <a:ext cx="1234440" cy="292608"/>
          </a:xfrm>
          <a:prstGeom prst="round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369564"/>
            <a:ext cx="114300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AIChemMCP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3310128"/>
            <a:ext cx="1536192" cy="292608"/>
          </a:xfrm>
          <a:prstGeom prst="roundRect">
            <a:avLst/>
          </a:prstGeom>
          <a:solidFill>
            <a:srgbClr val="185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79" y="3369564"/>
            <a:ext cx="1444751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Microsoft YaHei"/>
              </a:rPr>
              <a:t>Action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39312" y="3310128"/>
            <a:ext cx="1719072" cy="292608"/>
          </a:xfrm>
          <a:prstGeom prst="round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3369564"/>
            <a:ext cx="1627631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Scheduling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11696" y="4224528"/>
            <a:ext cx="4480560" cy="1234440"/>
          </a:xfrm>
          <a:prstGeom prst="roundRect">
            <a:avLst/>
          </a:prstGeom>
          <a:solidFill>
            <a:srgbClr val="0E3252"/>
          </a:solidFill>
          <a:ln w="1270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498848"/>
            <a:ext cx="3977639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YaHei"/>
              </a:rPr>
              <a:t>Agent -&gt; Runtime -&gt; Scheduler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882896"/>
            <a:ext cx="38404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C4E1EE"/>
                </a:solidFill>
                <a:latin typeface="Microsoft YaHei"/>
              </a:rPr>
              <a:t>任务提交 · 资源调度 · 状态反馈 · 结果归档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5596128"/>
            <a:ext cx="4096512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60" b="0">
                <a:solidFill>
                  <a:srgbClr val="C0D6E3"/>
                </a:solidFill>
                <a:latin typeface="Microsoft YaHei"/>
              </a:rPr>
              <a:t>当前定位：仿真调度原型，未接入真实实验室硬件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B9CFE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汇报框架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按照“需求—设计—实现—测试—总结”的工程过程展开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992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E6B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1907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为什么做调度集成
本项目完成什么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0992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9" y="171907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系统设计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07568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架构、调用链
模型与状态流转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2160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3075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实现与演示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8736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接口、示例数据
Demo 闭环与输出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21608"/>
            <a:ext cx="640080" cy="2743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3730752"/>
            <a:ext cx="310896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测试与总结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4087368"/>
            <a:ext cx="338328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Microsoft YaHei"/>
              </a:rPr>
              <a:t>测试验证、工程化
不足与后续扩展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1280160"/>
            <a:ext cx="0" cy="4434840"/>
          </a:xfrm>
          <a:prstGeom prst="line">
            <a:avLst/>
          </a:prstGeom>
          <a:ln w="10160">
            <a:solidFill>
              <a:srgbClr val="C6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248" y="3438144"/>
            <a:ext cx="10241280" cy="0"/>
          </a:xfrm>
          <a:prstGeom prst="line">
            <a:avLst/>
          </a:prstGeom>
          <a:ln w="10160">
            <a:solidFill>
              <a:srgbClr val="C6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自动化实验任务需要从“计划”走向“可调度执行”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754880" cy="4206240"/>
          </a:xfrm>
          <a:prstGeom prst="roundRect">
            <a:avLst/>
          </a:prstGeom>
          <a:solidFill>
            <a:srgbClr val="EBF6FA"/>
          </a:solidFill>
          <a:ln w="10160">
            <a:solidFill>
              <a:srgbClr val="D3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0233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91A30"/>
                </a:solidFill>
                <a:latin typeface="Microsoft YaHei"/>
              </a:rPr>
              <a:t>AI for Chemistry 场景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74320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89864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实验目标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224028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39572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任务队列</a:t>
            </a:r>
          </a:p>
        </p:txBody>
      </p:sp>
      <p:sp>
        <p:nvSpPr>
          <p:cNvPr id="11" name="Oval 10"/>
          <p:cNvSpPr/>
          <p:nvPr/>
        </p:nvSpPr>
        <p:spPr>
          <a:xfrm>
            <a:off x="4069080" y="315468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331012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设备资源</a:t>
            </a:r>
          </a:p>
        </p:txBody>
      </p:sp>
      <p:sp>
        <p:nvSpPr>
          <p:cNvPr id="13" name="Oval 12"/>
          <p:cNvSpPr/>
          <p:nvPr/>
        </p:nvSpPr>
        <p:spPr>
          <a:xfrm>
            <a:off x="2514600" y="416052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4315968"/>
            <a:ext cx="822960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Microsoft YaHei"/>
              </a:rPr>
              <a:t>状态反馈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83080" y="2514600"/>
            <a:ext cx="1005840" cy="457200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29000" y="2487168"/>
            <a:ext cx="685800" cy="85039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17520" y="3584448"/>
            <a:ext cx="1143000" cy="66751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691640" y="3218688"/>
            <a:ext cx="868680" cy="103327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21324" y="1513332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1481328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91440" cy="9601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627632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任务不是单点动作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920240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反应、测量、表征需要排队和状态跟踪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64524" y="1513332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32520" y="1481328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20" y="1481328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1627632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资源存在竞争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920240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工作站与机器人需要时间线预留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21324" y="2939796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89320" y="2907792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2907792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054096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需要工程闭环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346704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接口、运行时、输出归档和测试验证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64524" y="2939796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32520" y="2907792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32520" y="2907792"/>
            <a:ext cx="914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3054096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先做仿真原型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346704"/>
            <a:ext cx="21488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为后续硬件协议接入预留结构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4572000"/>
            <a:ext cx="5212080" cy="68580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3912" y="4823460"/>
            <a:ext cx="488289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此处可补充项目背景或课程要求截图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项目目标与建设内容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构建可运行、可验证、可扩展的仿真调度原型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91440" cy="14173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任务抽象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反应 / 测量 / 表征
封装为可调度任务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672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91440" cy="14173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资源抽象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Workstation / Robot / Tool
描述模拟实验室资源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564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91440" cy="14173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调度运行时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维护任务、时间、状态
和执行历史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4563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9144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746504"/>
            <a:ext cx="20116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Microsoft YaHei"/>
              </a:rPr>
              <a:t>接口闭环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039112"/>
            <a:ext cx="2011679" cy="9144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Action Server 暴露工具
demo 输出归档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3977639"/>
            <a:ext cx="8138160" cy="1051560"/>
          </a:xfrm>
          <a:prstGeom prst="roundRect">
            <a:avLst/>
          </a:prstGeom>
          <a:solidFill>
            <a:srgbClr val="EBF6FA"/>
          </a:solidFill>
          <a:ln w="10160">
            <a:solidFill>
              <a:srgbClr val="C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4233672"/>
            <a:ext cx="740664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91A30"/>
                </a:solidFill>
                <a:latin typeface="Microsoft YaHei"/>
              </a:rPr>
              <a:t>目标边界：当前展示的是 simulation / mock hardware 调度闭环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636008"/>
            <a:ext cx="7132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80" b="0">
                <a:solidFill>
                  <a:srgbClr val="5B6C80"/>
                </a:solidFill>
                <a:latin typeface="Microsoft YaHei"/>
              </a:rPr>
              <a:t>不声明真实机械臂、真实仪器或真实实验执行已经接入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功能、质量、展示三类需求共同约束工程实现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56231"/>
            <a:ext cx="420624" cy="420624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5064" y="1892807"/>
            <a:ext cx="15544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功能需求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44168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638044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任务提交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44168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168396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状态查询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698748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时间推进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4168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29100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运行到完成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1856231"/>
            <a:ext cx="420624" cy="42062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1892807"/>
            <a:ext cx="15544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非功能需求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7" y="2638044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结构清晰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7488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3207" y="3168396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可复现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3698748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错误可返回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7" y="4229100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结果可追踪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19" y="1856231"/>
            <a:ext cx="420624" cy="42062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3" y="1892807"/>
            <a:ext cx="15544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展示需求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50807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638044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一键 demo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0807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6528" y="3168396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结构化输出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50807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3698748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测试结果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0807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4229100"/>
            <a:ext cx="193852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1">
                <a:solidFill>
                  <a:srgbClr val="091A30"/>
                </a:solidFill>
                <a:latin typeface="Microsoft YaHei"/>
              </a:rPr>
              <a:t>截图占位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897880"/>
            <a:ext cx="98755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实现原则：先完成可运行的软件原型，再为后续真实硬件接入保留边界。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接口层与调度层解耦，形成可运行的仿真调度闭环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234440"/>
            <a:ext cx="11228832" cy="224028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4475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50" b="1">
                <a:solidFill>
                  <a:srgbClr val="1E6BFF"/>
                </a:solidFill>
                <a:latin typeface="Microsoft YaHei"/>
              </a:rPr>
              <a:t>主调用链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用户 /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发起调用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agent.py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665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142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494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424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230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Action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230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工具路由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servers/action_server.py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2102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3590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0390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390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Tools 封装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参数转换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tools/action_server_tools.py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7550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038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8383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58383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126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26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维护状态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4126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scheduling/runtime.py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72998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4486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1286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12864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Scheduler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74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资源预留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574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scheduling/scheduler.py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28446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9934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673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734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4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0224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任务资源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0224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scheduling/models.py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8389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382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218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2182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04703" y="1984248"/>
            <a:ext cx="1014983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Microsoft YaHei"/>
              </a:rPr>
              <a:t>demo_result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04703" y="2240280"/>
            <a:ext cx="1014983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Microsoft YaHei"/>
              </a:rPr>
              <a:t>结果归档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04703" y="2468880"/>
            <a:ext cx="1014983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Microsoft YaHei"/>
              </a:rPr>
              <a:t>outputs/demo_result.json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1248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1248" y="3886200"/>
            <a:ext cx="91440" cy="89611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28" y="4032504"/>
            <a:ext cx="2651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输入数据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" y="4325112"/>
            <a:ext cx="2651760" cy="39319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examples/*.json
示例任务、资源、工作流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40580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608576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08576" y="3886200"/>
            <a:ext cx="91440" cy="89611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91456" y="4032504"/>
            <a:ext cx="2651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调度能力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325112"/>
            <a:ext cx="2651760" cy="39319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任务提交 / 状态查询
时间推进、执行记录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07908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75904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75904" y="3886200"/>
            <a:ext cx="91440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8784" y="4032504"/>
            <a:ext cx="26517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验证闭环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58784" y="4325112"/>
            <a:ext cx="2651760" cy="39319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tests + demo smoke
输出结果可复现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" y="5559552"/>
            <a:ext cx="2057400" cy="493776"/>
          </a:xfrm>
          <a:prstGeom prst="roundRect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Microsoft YaHei"/>
              </a:rPr>
              <a:t>接口层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18488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C8E0EE"/>
                </a:solidFill>
                <a:latin typeface="Microsoft YaHei"/>
              </a:rPr>
              <a:t>工具路由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871215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9232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运行时层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31335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状态维护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84064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79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调度层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44183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资源预留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96912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4927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数据模型层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57031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任务资源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509759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37776" y="5650992"/>
            <a:ext cx="749808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Microsoft YaHei"/>
              </a:rPr>
              <a:t>验证层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69880" y="5650992"/>
            <a:ext cx="8686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819" b="0">
                <a:solidFill>
                  <a:srgbClr val="5B6C80"/>
                </a:solidFill>
                <a:latin typeface="Microsoft YaHei"/>
              </a:rPr>
              <a:t>测试归档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核心调用链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从工具请求到调度状态反馈的闭环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91440" cy="107899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6362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用户 /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23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发起工具调用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185623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97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417320"/>
            <a:ext cx="91440" cy="107899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56362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Action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5623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解析 JSON-RPC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60920" y="185623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3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41732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6362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185623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转为 Runtime 方法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48386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77647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提交任务 / 推进时间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03320" y="377647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97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48386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77647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生成 START_PROCESSING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360920" y="377647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073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753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483864"/>
            <a:ext cx="23317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776472"/>
            <a:ext cx="2331720" cy="57607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返回状态快照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92640" y="2514600"/>
            <a:ext cx="0" cy="640080"/>
          </a:xfrm>
          <a:prstGeom prst="line">
            <a:avLst/>
          </a:prstGeom>
          <a:ln w="1524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Arrow 39"/>
          <p:cNvSpPr/>
          <p:nvPr/>
        </p:nvSpPr>
        <p:spPr>
          <a:xfrm>
            <a:off x="9372600" y="3063240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74519" y="5577840"/>
            <a:ext cx="8412480" cy="512064"/>
          </a:xfrm>
          <a:prstGeom prst="roundRect">
            <a:avLst/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5724144"/>
            <a:ext cx="7955279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5B6C80"/>
                </a:solidFill>
                <a:latin typeface="Microsoft YaHei"/>
              </a:rPr>
              <a:t>真实文件：servers/action_server.py / tools/action_server_tools.py / scheduling/runtime.py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调度模型设计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用统一数据模型承接实验任务和模拟资源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6884" y="2272284"/>
            <a:ext cx="2560320" cy="11430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240280"/>
            <a:ext cx="2560320" cy="1143000"/>
          </a:xfrm>
          <a:prstGeom prst="roundRect">
            <a:avLst/>
          </a:prstGeom>
          <a:solidFill>
            <a:srgbClr val="EBF6FA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2240280"/>
            <a:ext cx="91440" cy="11430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386584"/>
            <a:ext cx="22402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79192"/>
            <a:ext cx="2240279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workflow_tools
processing_times
status / current_step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" y="158648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55448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554480"/>
            <a:ext cx="91440" cy="10058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0078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Resource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993391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timeline
current_task_id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240280" y="2057400"/>
            <a:ext cx="3794760" cy="749808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27364" y="158648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55448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554480"/>
            <a:ext cx="91440" cy="10058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70078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Workstation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993391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tools
reaction / measure / char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35040" y="2057400"/>
            <a:ext cx="3794760" cy="749808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7844" y="405536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02336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023360"/>
            <a:ext cx="914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966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Robot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62272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transfer timeline
RB_1 / RB_2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40280" y="2807208"/>
            <a:ext cx="3794760" cy="1719072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627364" y="405536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0" y="402336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4023360"/>
            <a:ext cx="914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169664"/>
            <a:ext cx="21488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462272"/>
            <a:ext cx="214884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reaction_tool
hplc_tool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35040" y="2807208"/>
            <a:ext cx="3794760" cy="1719072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977639" y="4251960"/>
            <a:ext cx="4069080" cy="1170432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2231" y="4379976"/>
            <a:ext cx="373989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scheduling/models.py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1" y="4690872"/>
            <a:ext cx="3739896" cy="6035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TaskStatus: WAITING / RUNNING / COMPLETED / ERROR
ResourceStatus: IDLE / BUSY / RESERVED / TRANSPORTING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任务状态流转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运行时维护任务状态与资源状态的可观测变化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WAITING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RUNNING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76272"/>
            <a:ext cx="14630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Microsoft YaHei"/>
              </a:rPr>
              <a:t>ERROR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88920" y="2221992"/>
            <a:ext cx="68580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623560" y="2221992"/>
            <a:ext cx="68580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58200" y="2221992"/>
            <a:ext cx="685800" cy="146304"/>
          </a:xfrm>
          <a:prstGeom prst="rightArrow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82296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780" b="0">
                <a:solidFill>
                  <a:srgbClr val="5B6C80"/>
                </a:solidFill>
                <a:latin typeface="Microsoft YaHei"/>
              </a:rPr>
              <a:t>调度命令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606040"/>
            <a:ext cx="777240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780" b="0">
                <a:solidFill>
                  <a:srgbClr val="5B6C80"/>
                </a:solidFill>
                <a:latin typeface="Microsoft YaHei"/>
              </a:rPr>
              <a:t>步骤完成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3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749039"/>
            <a:ext cx="91440" cy="9601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95344"/>
            <a:ext cx="25603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WAITING -&gt; RUNNING -&gt; COMPLETED
ERROR 为预留状态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5444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3749039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895344"/>
            <a:ext cx="25603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资源状态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187952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IDLE / BUSY / RESERVED
MOVING_TO_PICKUP / TRANSPORTING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44484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3749039"/>
            <a:ext cx="914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59" y="3895344"/>
            <a:ext cx="256032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状态快照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4187952"/>
            <a:ext cx="256032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get_runtime_status()
输出任务、资源、历史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工具接口设计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Action Server 对外暴露 6 个真实可调用工具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298448"/>
            <a:ext cx="5120640" cy="41605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1298448"/>
            <a:ext cx="5120640" cy="41605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298448"/>
            <a:ext cx="5120640" cy="566928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7648" y="1298448"/>
            <a:ext cx="5120640" cy="566928"/>
          </a:xfrm>
          <a:prstGeom prst="rect">
            <a:avLst/>
          </a:prstGeom>
          <a:solidFill>
            <a:srgbClr val="E5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472184"/>
            <a:ext cx="237744" cy="237744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1472184"/>
            <a:ext cx="237744" cy="23774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53896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任务提交类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453896"/>
            <a:ext cx="192024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Microsoft YaHei"/>
              </a:rPr>
              <a:t>调度控制类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517904"/>
            <a:ext cx="15544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19" b="0">
                <a:solidFill>
                  <a:srgbClr val="5B6C80"/>
                </a:solidFill>
                <a:latin typeface="Microsoft YaHei"/>
              </a:rPr>
              <a:t>3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517904"/>
            <a:ext cx="1554480" cy="14630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r"/>
            <a:r>
              <a:rPr sz="819" b="0">
                <a:solidFill>
                  <a:srgbClr val="5B6C80"/>
                </a:solidFill>
                <a:latin typeface="Microsoft YaHei"/>
              </a:rPr>
              <a:t>3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0995" y="2180844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2148840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8992" y="2148840"/>
            <a:ext cx="91440" cy="603504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229514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robotic_reaction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587752"/>
            <a:ext cx="4023360" cy="100583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提交反应任务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0995" y="3022092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78992" y="2990088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2990088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3136392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robotic_measurement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429000"/>
            <a:ext cx="4023360" cy="100583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提交测量任务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0995" y="3863340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8992" y="3831336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8992" y="3831336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3977640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robotic_characterization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4270248"/>
            <a:ext cx="4023360" cy="100583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提交表征任务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88836" y="2180844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56832" y="2148840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56832" y="2148840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2295144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scheduler_status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2587752"/>
            <a:ext cx="4023360" cy="100583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查询状态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88836" y="3022092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56832" y="2990088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56832" y="2990088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3136392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scheduler_advance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39712" y="3429000"/>
            <a:ext cx="4023360" cy="100583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推进时间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88836" y="3863340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56832" y="3831336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56832" y="3831336"/>
            <a:ext cx="91440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3977640"/>
            <a:ext cx="402336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Microsoft YaHei"/>
              </a:rPr>
              <a:t>scheduler_run_until_complete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270248"/>
            <a:ext cx="4023360" cy="100583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运行到完成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03120" y="5742432"/>
            <a:ext cx="7955279" cy="384048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5861304"/>
            <a:ext cx="7498079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19" b="0">
                <a:solidFill>
                  <a:srgbClr val="5B6C80"/>
                </a:solidFill>
                <a:latin typeface="Microsoft YaHei"/>
              </a:rPr>
              <a:t>实现依据：servers/action_server.py 的 AVAILABLE_TOOLS_ACTION 与 capability 声明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示例数据与资源设计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使用模拟工作站、机器人和三步 workflow 支撑演示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" y="1403604"/>
            <a:ext cx="3017520" cy="10515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0175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91440" cy="105156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2697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模拟工作站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2697479" cy="5486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WS_REACTOR_A
WS_MEASURE_A
WS_CHAR_A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" y="2820924"/>
            <a:ext cx="3017520" cy="10515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0175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91440" cy="105156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35224"/>
            <a:ext cx="2697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模拟机器人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7832"/>
            <a:ext cx="2697479" cy="54863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RB_1：转运样品
RB_2：备用资源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353312"/>
            <a:ext cx="3200400" cy="2487168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81328"/>
            <a:ext cx="287121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sample_workflow.json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92224"/>
            <a:ext cx="2871216" cy="19202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"workflow_tools": [
  "reaction_tool",
  "yield_measurement_tool",
  "hplc_tool"
]
"seamless_steps": [[0, 1]]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41564" y="1403604"/>
            <a:ext cx="3246120" cy="10972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09560" y="1371600"/>
            <a:ext cx="3246120" cy="1097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1371600"/>
            <a:ext cx="91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17904"/>
            <a:ext cx="29260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Microsoft YaHei"/>
              </a:rPr>
              <a:t>三步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1810512"/>
            <a:ext cx="2926079" cy="5943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reaction -&gt; yield -&gt; hplc
processing_times: 18 / 12 /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2907792"/>
            <a:ext cx="3246120" cy="96012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3296412"/>
            <a:ext cx="291693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 examples JSON 截图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715000"/>
            <a:ext cx="100584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这些资源均为 simulation/mock 配置，用于验证调度逻辑，不代表真实硬件接入。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Demo 演示流程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从示例数据到结构化输出，验证原型可运行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110459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加载示例数据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4475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5176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提交实验任务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2783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740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分配资源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8348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9904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推进模拟时间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7512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7264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查询状态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403336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548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1810512"/>
            <a:ext cx="256032" cy="10972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2313432"/>
            <a:ext cx="117043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Microsoft YaHei"/>
              </a:rPr>
              <a:t>输出结果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0976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" y="3703320"/>
            <a:ext cx="91440" cy="969264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3849624"/>
            <a:ext cx="2606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任务状态变化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" y="4142231"/>
            <a:ext cx="2606040" cy="4663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4 个任务全部完成
TASK-0004 为三步 workflow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58868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26864" y="3703320"/>
            <a:ext cx="91440" cy="96926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9744" y="3849624"/>
            <a:ext cx="2606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模拟时间推进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4142231"/>
            <a:ext cx="2606040" cy="4663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final time = 152
中途 time 39 产生完成事件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4756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02752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02752" y="3703320"/>
            <a:ext cx="91440" cy="9692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849624"/>
            <a:ext cx="26060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输出结果归档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142231"/>
            <a:ext cx="2606040" cy="4663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demo_result.json
all_completed: true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0" y="5230368"/>
            <a:ext cx="6327648" cy="530352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82112" y="5376672"/>
            <a:ext cx="580644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真实依据：AIChemMCP-main/outputs/demo_result.json；当前为 simulation / mock hardware。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Demo 运行结果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结果看板展示任务完成、资源占用与输出归档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E6BFF"/>
                </a:solidFill>
                <a:latin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submitted tasks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12C4DA"/>
                </a:solidFill>
                <a:latin typeface="Microsoft YaHei"/>
              </a:rPr>
              <a:t>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simulation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27AE60"/>
                </a:solidFill>
                <a:latin typeface="Microsoft YaHei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all_completed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27048"/>
            <a:ext cx="1828800" cy="29260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F59240"/>
                </a:solidFill>
                <a:latin typeface="Microsoft YaHei"/>
              </a:rPr>
              <a:t>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47672"/>
            <a:ext cx="18288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steps_run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907792"/>
            <a:ext cx="4846320" cy="2029968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035808"/>
            <a:ext cx="451713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demo_result.json 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346704"/>
            <a:ext cx="4517136" cy="1463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"demo_mode": "simulation"
"final": {
  "time": 152,
  "all_completed": true
}
"TASK-0004": "COMPLETED"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5644" y="2939796"/>
            <a:ext cx="23774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2907792"/>
            <a:ext cx="23774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07792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54096"/>
            <a:ext cx="20574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工作站结果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46704"/>
            <a:ext cx="20574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WS_REACTOR_A
WS_MEASURE_A
WS_CHAR_A
最终均 IDLE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8844" y="2939796"/>
            <a:ext cx="23774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06840" y="2907792"/>
            <a:ext cx="23774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2907792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19" y="3054096"/>
            <a:ext cx="20574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机器人结果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3346704"/>
            <a:ext cx="20574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RB_1 处理 TASK-0004
RB_2 未占用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43400"/>
            <a:ext cx="5120640" cy="59436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4549140"/>
            <a:ext cx="4791455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 demo 运行终端截图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关键功能实现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核心实现围绕运行时封装、调度预留和结构化输出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25880"/>
            <a:ext cx="4983480" cy="38404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465429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scheduling/runtime.py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654296" cy="32735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submit_task(...)
  validate workflow_tools
  create Task
  scheduler.add_task(task)
  commands = tick(steps=1)
run_until_all_complete(max_steps)
  advance until all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5644" y="149504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91440" cy="9144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934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任务提交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把实验请求转为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55963" y="149504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23959" y="146304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59" y="1463040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39" y="160934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资源映射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190195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tool -&gt; workstation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5644" y="291236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80360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02666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时间推进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1927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tick / advance_time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5963" y="291236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23959" y="288036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59" y="288036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3026664"/>
            <a:ext cx="18288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结果归档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3319272"/>
            <a:ext cx="1828800" cy="41147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demo_result.json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526280"/>
            <a:ext cx="4709160" cy="59436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4732020"/>
            <a:ext cx="437997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 runtime / scheduler 代码截图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异常处理与工程健壮性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输入校验和结构化错误返回让原型更可演示、可测试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输入请求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sample_id / steps / workflow_tools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2221992"/>
            <a:ext cx="347472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8164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运行时校验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_require_text / _positive_int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7879" y="2221992"/>
            <a:ext cx="347472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7083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79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828800"/>
            <a:ext cx="91440" cy="96012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错误包装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_safe_call / _error_response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86800" y="2221992"/>
            <a:ext cx="347472" cy="146304"/>
          </a:xfrm>
          <a:prstGeom prst="rightArrow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6003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3999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3999" y="1828800"/>
            <a:ext cx="91440" cy="96012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9" y="1975104"/>
            <a:ext cx="192024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结构化返回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2267712"/>
            <a:ext cx="1920240" cy="4572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INVALID_INPUT + runtime_status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3840480"/>
            <a:ext cx="4663440" cy="13258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3968496"/>
            <a:ext cx="4334255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tools/action_server_tools.py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4279392"/>
            <a:ext cx="4334255" cy="7589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return { "ok": False,
  "error": {
    "code": "INVALID_INPUT"
  },
  "runtime_status": ... 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2804" y="3872484"/>
            <a:ext cx="4389120" cy="13258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840480"/>
            <a:ext cx="438912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91440" cy="132588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986784"/>
            <a:ext cx="406908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边界说明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279392"/>
            <a:ext cx="4069080" cy="822959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已实现基础输入校验与错误返回；真实设备 ACK、超时重试和安全联锁仍属于后续扩展。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测试方案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用标准库 unittest 覆盖模型、调度器、运行时、工具和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1847088"/>
            <a:ext cx="512064" cy="51206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993392"/>
            <a:ext cx="310896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606040"/>
            <a:ext cx="13716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Microsoft YaHei"/>
              </a:rPr>
              <a:t>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146304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Task 创建
workflow 必填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078224"/>
            <a:ext cx="157276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Microsoft YaHei"/>
              </a:rPr>
              <a:t>TaskModelTests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847088"/>
            <a:ext cx="512064" cy="51206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93392"/>
            <a:ext cx="310896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2606040"/>
            <a:ext cx="13716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Microsoft YaHei"/>
              </a:rPr>
              <a:t>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146304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资源预留
命令生成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4078224"/>
            <a:ext cx="157276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Microsoft YaHei"/>
              </a:rPr>
              <a:t>SchedulerTests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1847088"/>
            <a:ext cx="512064" cy="51206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993392"/>
            <a:ext cx="310896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606040"/>
            <a:ext cx="13716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Microsoft YaHei"/>
              </a:rPr>
              <a:t>运行时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999232"/>
            <a:ext cx="146304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提交 / 状态
完成 / 推进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4078224"/>
            <a:ext cx="157276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Microsoft YaHei"/>
              </a:rPr>
              <a:t>RuntimeTests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7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3023" y="1847088"/>
            <a:ext cx="512064" cy="51206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1993392"/>
            <a:ext cx="310896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399" y="2606040"/>
            <a:ext cx="13716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Microsoft YaHei"/>
              </a:rPr>
              <a:t>错误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3" y="2999232"/>
            <a:ext cx="146304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INVALID_INPUT
结构化返回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4078224"/>
            <a:ext cx="157276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Microsoft YaHei"/>
              </a:rPr>
              <a:t>ActionServerTools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60736" y="1847088"/>
            <a:ext cx="512064" cy="51206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2176" y="1993392"/>
            <a:ext cx="310896" cy="11887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1" y="2606040"/>
            <a:ext cx="13716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Microsoft YaHei"/>
              </a:rPr>
              <a:t>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999232"/>
            <a:ext cx="146304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生成结果
输出归档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4078224"/>
            <a:ext cx="1572768" cy="1371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Microsoft YaHei"/>
              </a:rPr>
              <a:t>DemoSmokeTests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91640" y="5394960"/>
            <a:ext cx="8823960" cy="475488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5550408"/>
            <a:ext cx="82296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入口：AIChemMCP-main/run_tests.py；测试文件：tests/test_scheduling_runtime.py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测试结果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当前运行 8 个测试用例全部通过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3200400" cy="1325880"/>
          </a:xfrm>
          <a:prstGeom prst="roundRect">
            <a:avLst/>
          </a:prstGeom>
          <a:solidFill>
            <a:srgbClr val="E7FAF0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00784"/>
            <a:ext cx="27432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27AE60"/>
                </a:solidFill>
                <a:latin typeface="Microsoft YaHei"/>
              </a:rPr>
              <a:t>8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2743200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Ran 8 tests ...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6126480" cy="20116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499616"/>
            <a:ext cx="5797296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2C4DA"/>
                </a:solidFill>
                <a:latin typeface="Microsoft YaHei"/>
              </a:rPr>
              <a:t>python run_tests.py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1810512"/>
            <a:ext cx="5797296" cy="144475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/>
              </a:rPr>
              <a:t>test_demo_generates_result_file ... ok
test_action_tools_return_structured_error ... ok
test_runtime_submit_status_and_completion ... ok
test_scheduler_basic_reservation ... ok
Ran 8 tests in 0.023s
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069080"/>
            <a:ext cx="9875520" cy="777240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366260"/>
            <a:ext cx="954633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此处可补充测试通过终端截图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9875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Microsoft YaHei"/>
              </a:rPr>
              <a:t>测试结果来自本轮本地运行，不涉及外部服务。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工程化实践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从概念验证整理为可运行、可测试、可复现的项目结构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224028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1874519"/>
            <a:ext cx="310896" cy="31089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27048" y="1874519"/>
            <a:ext cx="1325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Microsoft YaHei"/>
              </a:rPr>
              <a:t>模块化组织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395728"/>
            <a:ext cx="164592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scheduling
servers /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72768"/>
            <a:ext cx="224028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13048" y="1874519"/>
            <a:ext cx="310896" cy="31089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874519"/>
            <a:ext cx="1325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Microsoft YaHei"/>
              </a:rPr>
              <a:t>接口封装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2395728"/>
            <a:ext cx="164592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Action Server
Tools 返回包装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72768"/>
            <a:ext cx="224028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56248" y="1874519"/>
            <a:ext cx="310896" cy="31089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1874519"/>
            <a:ext cx="1325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Microsoft YaHei"/>
              </a:rPr>
              <a:t>测试验证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395728"/>
            <a:ext cx="164592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run_tests.py
8 个 unittest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72768"/>
            <a:ext cx="2240280" cy="187451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99448" y="1874519"/>
            <a:ext cx="310896" cy="310896"/>
          </a:xfrm>
          <a:prstGeom prst="ellipse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874519"/>
            <a:ext cx="132588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Microsoft YaHei"/>
              </a:rPr>
              <a:t>文档与归档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2395728"/>
            <a:ext cx="1645920" cy="42062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19" b="0">
                <a:solidFill>
                  <a:srgbClr val="5B6C80"/>
                </a:solidFill>
                <a:latin typeface="Microsoft YaHei"/>
              </a:rPr>
              <a:t>README / docs
outputs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160520"/>
            <a:ext cx="4297680" cy="804672"/>
          </a:xfrm>
          <a:prstGeom prst="roundRect">
            <a:avLst/>
          </a:prstGeom>
          <a:solidFill>
            <a:srgbClr val="EFF5FA"/>
          </a:solidFill>
          <a:ln w="12700">
            <a:solidFill>
              <a:srgbClr val="AFC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4471416"/>
            <a:ext cx="3968496" cy="1828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Microsoft YaHei"/>
              </a:rPr>
              <a:t>此处可补充项目目录截图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7004" y="4192524"/>
            <a:ext cx="5349240" cy="80467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15000" y="4160520"/>
            <a:ext cx="5349240" cy="804672"/>
          </a:xfrm>
          <a:prstGeom prst="roundRect">
            <a:avLst/>
          </a:prstGeom>
          <a:solidFill>
            <a:srgbClr val="EBF6FA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4160520"/>
            <a:ext cx="9144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4306824"/>
            <a:ext cx="5029200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Microsoft YaHei"/>
              </a:rPr>
              <a:t>可复现链路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599431"/>
            <a:ext cx="5029200" cy="301751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python demo.py -&gt; outputs/demo_result.json
python run_tests.py -&gt; 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项目难点与解决方案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难点集中在抽象、解耦、仿真闭环和可测试性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353312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353312"/>
            <a:ext cx="91440" cy="566928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45336"/>
            <a:ext cx="32004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实验任务抽象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38928" y="1572768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97880" y="1353312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353312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545336"/>
            <a:ext cx="3749039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统一 Task / workflow_tools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157984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2157984"/>
            <a:ext cx="91440" cy="566928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50008"/>
            <a:ext cx="32004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Agent 与调度解耦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38928" y="2377439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97880" y="2157984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2157984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350008"/>
            <a:ext cx="3749039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Action Server + Tools 网关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962656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962656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154680"/>
            <a:ext cx="32004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无硬件条件下演示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38928" y="3182112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97880" y="2962656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2962656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3154680"/>
            <a:ext cx="3749039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模拟资源 + 时间线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3767328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3767328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959352"/>
            <a:ext cx="32004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多资源冲突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138928" y="3986784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3767328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3767328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3959352"/>
            <a:ext cx="3749039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Scheduler 预留窗口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4572000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" y="4572000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764024"/>
            <a:ext cx="3200400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工程验证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138928" y="4791456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97880" y="4572000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7880" y="4572000"/>
            <a:ext cx="9144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4764024"/>
            <a:ext cx="3749039" cy="12801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Microsoft YaHei"/>
              </a:rPr>
              <a:t>demo + unittest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806440"/>
            <a:ext cx="98755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Microsoft YaHei"/>
              </a:rPr>
              <a:t>解决方案均落在当前真实代码、demo 和测试中；真实硬件接入仍放在后续扩展。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Microsoft YaHei"/>
              </a:rPr>
              <a:t>不足与后续扩展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019" b="0">
                <a:solidFill>
                  <a:srgbClr val="5B6C80"/>
                </a:solidFill>
                <a:latin typeface="Microsoft YaHei"/>
              </a:rPr>
              <a:t>当前是仿真原型，后续重点是硬件协议、反馈闭环和可视化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当前原型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simulation / mock
已完成软件闭环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5808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828800"/>
            <a:ext cx="91440" cy="12344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硬件协议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接入真实设备或
硬件模拟平台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4632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9836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828800"/>
            <a:ext cx="91440" cy="123444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异常恢复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ACK / 超时 / 重试
安全联锁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8660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3864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91440" cy="12344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复杂调度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依赖约束
反馈重规划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2688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7892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1828800"/>
            <a:ext cx="9144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975104"/>
            <a:ext cx="1554479" cy="21945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Microsoft YaHei"/>
              </a:rPr>
              <a:t>可视化平台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267712"/>
            <a:ext cx="1554479" cy="7315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Microsoft YaHei"/>
              </a:rPr>
              <a:t>任务队列
资源时间线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1560" y="4343400"/>
            <a:ext cx="9966960" cy="777240"/>
          </a:xfrm>
          <a:prstGeom prst="roundRect">
            <a:avLst/>
          </a:prstGeom>
          <a:solidFill>
            <a:srgbClr val="FFF6EC"/>
          </a:solidFill>
          <a:ln w="11430">
            <a:solidFill>
              <a:srgbClr val="F59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4553712"/>
            <a:ext cx="941832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53140"/>
                </a:solidFill>
                <a:latin typeface="Microsoft YaHei"/>
              </a:rPr>
              <a:t>不能写成已完成：真实机械臂控制、真实化学实验、生产级调度、复杂反馈闭环。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804672"/>
            <a:ext cx="3840480" cy="3840480"/>
          </a:xfrm>
          <a:prstGeom prst="arc">
            <a:avLst/>
          </a:prstGeom>
          <a:solidFill>
            <a:srgbClr val="091A30"/>
          </a:solidFill>
          <a:ln w="15240">
            <a:solidFill>
              <a:srgbClr val="2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973568" y="1325880"/>
            <a:ext cx="2743200" cy="2743200"/>
          </a:xfrm>
          <a:prstGeom prst="arc">
            <a:avLst/>
          </a:prstGeom>
          <a:solidFill>
            <a:srgbClr val="091A30"/>
          </a:solidFill>
          <a:ln w="12700">
            <a:solidFill>
              <a:srgbClr val="17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118872" cy="118872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7614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43616" y="18470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84464" y="1975104"/>
            <a:ext cx="1417320" cy="841248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01784" y="1901952"/>
            <a:ext cx="996696" cy="91440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4" y="1901952"/>
            <a:ext cx="2414016" cy="73152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58368"/>
            <a:ext cx="182880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2C4DA"/>
                </a:solidFill>
                <a:latin typeface="Microsoft YaHei"/>
              </a:rPr>
              <a:t>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8448"/>
            <a:ext cx="6217920" cy="6583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完成从 AIChemMCP 工具调用
到调度仿真执行的工程闭环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可运行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demo.py 输出可归档结果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Microsoft YaHei"/>
              </a:rPr>
              <a:t>可观测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任务、资源、历史状态可查询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Microsoft YaHei"/>
              </a:rPr>
              <a:t>可验证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8 个 unittest 本地通过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133087"/>
            <a:ext cx="1810512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Microsoft YaHei"/>
              </a:rPr>
              <a:t>可扩展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480560"/>
            <a:ext cx="1810512" cy="16459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Microsoft YaHei"/>
              </a:rPr>
              <a:t>为真实设备协议预留结构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5623560"/>
            <a:ext cx="6583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C6DEED"/>
                </a:solidFill>
                <a:latin typeface="Microsoft YaHei"/>
              </a:rPr>
              <a:t>当前定位始终是仿真调度原型，不夸大为真实硬件系统。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750" b="0">
                <a:solidFill>
                  <a:srgbClr val="B9CFE0"/>
                </a:solidFill>
                <a:latin typeface="Microsoft YaHei"/>
              </a:rPr>
              <a:t>AIChemMCP scheduling prototype | simulation / mock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