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70" userDrawn="1">
          <p15:clr>
            <a:srgbClr val="A4A3A4"/>
          </p15:clr>
        </p15:guide>
        <p15:guide id="2" pos="28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070"/>
        <p:guide pos="285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2" Type="http://schemas.openxmlformats.org/officeDocument/2006/relationships/slideLayout" Target="../slideLayouts/slideLayout7.xml"/><Relationship Id="rId21" Type="http://schemas.openxmlformats.org/officeDocument/2006/relationships/image" Target="../media/image1.png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3" Type="http://schemas.openxmlformats.org/officeDocument/2006/relationships/slideLayout" Target="../slideLayouts/slideLayout7.xml"/><Relationship Id="rId22" Type="http://schemas.openxmlformats.org/officeDocument/2006/relationships/image" Target="../media/image4.png"/><Relationship Id="rId21" Type="http://schemas.openxmlformats.org/officeDocument/2006/relationships/image" Target="../media/image3.png"/><Relationship Id="rId20" Type="http://schemas.openxmlformats.org/officeDocument/2006/relationships/tags" Target="../tags/tag40.xml"/><Relationship Id="rId2" Type="http://schemas.openxmlformats.org/officeDocument/2006/relationships/tags" Target="../tags/tag22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7.png"/><Relationship Id="rId17" Type="http://schemas.openxmlformats.org/officeDocument/2006/relationships/image" Target="../media/image6.png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tags" Target="../tags/tag4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804672"/>
            <a:ext cx="3840480" cy="3840480"/>
          </a:xfrm>
          <a:prstGeom prst="arc">
            <a:avLst/>
          </a:prstGeom>
          <a:solidFill>
            <a:srgbClr val="091A30"/>
          </a:solidFill>
          <a:ln w="15240">
            <a:solidFill>
              <a:srgbClr val="2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973568" y="1325880"/>
            <a:ext cx="2743200" cy="2743200"/>
          </a:xfrm>
          <a:prstGeom prst="arc">
            <a:avLst/>
          </a:prstGeom>
          <a:solidFill>
            <a:srgbClr val="091A30"/>
          </a:solidFill>
          <a:ln w="12700">
            <a:solidFill>
              <a:srgbClr val="177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920240"/>
            <a:ext cx="118872" cy="118872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27614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43616" y="18470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284464" y="1975104"/>
            <a:ext cx="1417320" cy="841248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01784" y="1901952"/>
            <a:ext cx="996696" cy="914400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84464" y="1901952"/>
            <a:ext cx="2414016" cy="73152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585216" y="658368"/>
            <a:ext cx="1737360" cy="347472"/>
          </a:xfrm>
          <a:prstGeom prst="roundRect">
            <a:avLst/>
          </a:prstGeom>
          <a:solidFill>
            <a:srgbClr val="123D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745236"/>
            <a:ext cx="146304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1">
                <a:solidFill>
                  <a:srgbClr val="12C4DA"/>
                </a:solidFill>
                <a:latin typeface="微软雅黑" panose="020B0503020204020204" charset="-122"/>
              </a:rPr>
              <a:t>工程实践结题汇报</a:t>
            </a:r>
            <a:endParaRPr sz="88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6928" y="1389888"/>
            <a:ext cx="6309360" cy="10058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微软雅黑" panose="020B0503020204020204" charset="-122"/>
              </a:rPr>
              <a:t>AIChemMCP
智能调度原型系统</a:t>
            </a:r>
            <a:endParaRPr sz="34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03504" y="2670048"/>
            <a:ext cx="58064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50" b="0">
                <a:solidFill>
                  <a:srgbClr val="D2E4F0"/>
                </a:solidFill>
                <a:latin typeface="微软雅黑" panose="020B0503020204020204" charset="-122"/>
              </a:rPr>
              <a:t>面向自动化实验室场景的机器人任务调度与模拟设备接口原型</a:t>
            </a:r>
            <a:endParaRPr sz="1250" b="0">
              <a:solidFill>
                <a:srgbClr val="D2E4F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03504" y="3310128"/>
            <a:ext cx="1234440" cy="292608"/>
          </a:xfrm>
          <a:prstGeom prst="round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" y="3369564"/>
            <a:ext cx="114300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AIChemMCP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965960" y="3310128"/>
            <a:ext cx="1536192" cy="292608"/>
          </a:xfrm>
          <a:prstGeom prst="roundRect">
            <a:avLst/>
          </a:prstGeom>
          <a:solidFill>
            <a:srgbClr val="1857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79" y="3369564"/>
            <a:ext cx="1444751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FFFFFF"/>
                </a:solidFill>
                <a:latin typeface="微软雅黑" panose="020B0503020204020204" charset="-122"/>
              </a:rPr>
              <a:t>Action Server</a:t>
            </a:r>
            <a:endParaRPr sz="82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39312" y="3310128"/>
            <a:ext cx="1719072" cy="292608"/>
          </a:xfrm>
          <a:prstGeom prst="round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85032" y="3369564"/>
            <a:ext cx="1627631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Scheduling Runtime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711696" y="4224528"/>
            <a:ext cx="4480560" cy="1234440"/>
          </a:xfrm>
          <a:prstGeom prst="roundRect">
            <a:avLst/>
          </a:prstGeom>
          <a:solidFill>
            <a:srgbClr val="0E3252"/>
          </a:solidFill>
          <a:ln w="1270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498848"/>
            <a:ext cx="3977639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700" b="1">
                <a:solidFill>
                  <a:srgbClr val="FFFFFF"/>
                </a:solidFill>
                <a:latin typeface="微软雅黑" panose="020B0503020204020204" charset="-122"/>
              </a:rPr>
              <a:t>Agent -&gt; Runtime -&gt; Scheduler</a:t>
            </a:r>
            <a:endParaRPr sz="1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0880" y="4882896"/>
            <a:ext cx="384048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C4E1EE"/>
                </a:solidFill>
                <a:latin typeface="微软雅黑" panose="020B0503020204020204" charset="-122"/>
              </a:rPr>
              <a:t>任务提交 · 资源调度 · 状态反馈 · 结果归档</a:t>
            </a:r>
            <a:endParaRPr sz="980" b="0">
              <a:solidFill>
                <a:srgbClr val="C4E1EE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931152" y="5596128"/>
            <a:ext cx="4096512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60" b="0">
                <a:solidFill>
                  <a:srgbClr val="C0D6E3"/>
                </a:solidFill>
                <a:latin typeface="微软雅黑" panose="020B0503020204020204" charset="-122"/>
              </a:rPr>
              <a:t>当前定位：仿真调度原型，未接入真实实验室硬件</a:t>
            </a:r>
            <a:endParaRPr sz="860" b="0">
              <a:solidFill>
                <a:srgbClr val="C0D6E3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B9CFE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B9CFE0"/>
              </a:solidFill>
              <a:latin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684530" y="3997960"/>
            <a:ext cx="46272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小组成员：朱星雨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朱小琪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闫岚</a:t>
            </a:r>
            <a:r>
              <a:rPr lang="en-US" altLang="zh-CN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</a:t>
            </a:r>
            <a:r>
              <a:rPr lang="zh-CN" altLang="en-US" sz="1400">
                <a:solidFill>
                  <a:schemeClr val="bg1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郑蔚彬</a:t>
            </a:r>
            <a:endParaRPr lang="zh-CN" altLang="en-US" sz="1400">
              <a:solidFill>
                <a:schemeClr val="bg1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汇报框架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按照“需求—设计—实现—测试—总结”的工程过程展开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150876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09928"/>
            <a:ext cx="6400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E6BFF"/>
                </a:solidFill>
                <a:latin typeface="微软雅黑" panose="020B0503020204020204" charset="-122"/>
              </a:rPr>
              <a:t>01</a:t>
            </a:r>
            <a:endParaRPr sz="1800" b="1">
              <a:solidFill>
                <a:srgbClr val="1E6B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737360" y="1719072"/>
            <a:ext cx="310896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项目背景与目标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737360" y="2075688"/>
            <a:ext cx="338328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微软雅黑" panose="020B0503020204020204" charset="-122"/>
              </a:rPr>
              <a:t>为什么做调度集成
本项目完成什么</a:t>
            </a:r>
            <a:endParaRPr sz="10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263640" y="150876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709928"/>
            <a:ext cx="6400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微软雅黑" panose="020B0503020204020204" charset="-122"/>
              </a:rPr>
              <a:t>02</a:t>
            </a:r>
            <a:endParaRPr sz="18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23759" y="1719072"/>
            <a:ext cx="310896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系统设计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3759" y="2075688"/>
            <a:ext cx="338328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微软雅黑" panose="020B0503020204020204" charset="-122"/>
              </a:rPr>
              <a:t>架构、调用链
模型与状态流转</a:t>
            </a:r>
            <a:endParaRPr sz="10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77240" y="352044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721608"/>
            <a:ext cx="6400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微软雅黑" panose="020B0503020204020204" charset="-122"/>
              </a:rPr>
              <a:t>03</a:t>
            </a:r>
            <a:endParaRPr sz="18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737360" y="3730752"/>
            <a:ext cx="310896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实现与演示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737360" y="4087368"/>
            <a:ext cx="338328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微软雅黑" panose="020B0503020204020204" charset="-122"/>
              </a:rPr>
              <a:t>接口、示例数据
Demo 闭环与输出</a:t>
            </a:r>
            <a:endParaRPr sz="10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263640" y="3520440"/>
            <a:ext cx="4800600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721608"/>
            <a:ext cx="640080" cy="2743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800" b="1">
                <a:solidFill>
                  <a:srgbClr val="12C4DA"/>
                </a:solidFill>
                <a:latin typeface="微软雅黑" panose="020B0503020204020204" charset="-122"/>
              </a:rPr>
              <a:t>04</a:t>
            </a:r>
            <a:endParaRPr sz="18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23759" y="3730752"/>
            <a:ext cx="3108960" cy="2286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测试与总结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223759" y="4087368"/>
            <a:ext cx="338328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5B6C80"/>
                </a:solidFill>
                <a:latin typeface="微软雅黑" panose="020B0503020204020204" charset="-122"/>
              </a:rPr>
              <a:t>测试验证、工程化
不足与后续扩展</a:t>
            </a:r>
            <a:endParaRPr sz="10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cxnSp>
        <p:nvCxnSpPr>
          <p:cNvPr id="21" name="Connector 20"/>
          <p:cNvCxnSpPr/>
          <p:nvPr/>
        </p:nvCxnSpPr>
        <p:spPr>
          <a:xfrm>
            <a:off x="6089904" y="1280160"/>
            <a:ext cx="0" cy="4434840"/>
          </a:xfrm>
          <a:prstGeom prst="line">
            <a:avLst/>
          </a:prstGeom>
          <a:ln w="10160">
            <a:solidFill>
              <a:srgbClr val="C6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841248" y="3438144"/>
            <a:ext cx="10241280" cy="0"/>
          </a:xfrm>
          <a:prstGeom prst="line">
            <a:avLst/>
          </a:prstGeom>
          <a:ln w="10160">
            <a:solidFill>
              <a:srgbClr val="C6DA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项目背景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自动化实验室任务需要从“计划”走向“可调度执行”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4754880" cy="3417570"/>
          </a:xfrm>
          <a:prstGeom prst="roundRect">
            <a:avLst/>
          </a:prstGeom>
          <a:solidFill>
            <a:srgbClr val="EBF6FA"/>
          </a:solidFill>
          <a:ln w="10160">
            <a:solidFill>
              <a:srgbClr val="D3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402336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800" b="1">
                <a:solidFill>
                  <a:srgbClr val="091A30"/>
                </a:solidFill>
                <a:latin typeface="微软雅黑" panose="020B0503020204020204" charset="-122"/>
              </a:rPr>
              <a:t>自动化实验室场景</a:t>
            </a:r>
            <a:endParaRPr sz="18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7" name="Oval 6"/>
          <p:cNvSpPr/>
          <p:nvPr/>
        </p:nvSpPr>
        <p:spPr>
          <a:xfrm>
            <a:off x="1143000" y="274320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2898648"/>
            <a:ext cx="822960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微软雅黑" panose="020B0503020204020204" charset="-122"/>
              </a:rPr>
              <a:t>任务目标</a:t>
            </a:r>
            <a:endParaRPr sz="9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Oval 8"/>
          <p:cNvSpPr/>
          <p:nvPr/>
        </p:nvSpPr>
        <p:spPr>
          <a:xfrm>
            <a:off x="2743200" y="224028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16352" y="2395728"/>
            <a:ext cx="822960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微软雅黑" panose="020B0503020204020204" charset="-122"/>
              </a:rPr>
              <a:t>任务队列</a:t>
            </a:r>
            <a:endParaRPr sz="9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4069080" y="315468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42232" y="3310128"/>
            <a:ext cx="822960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微软雅黑" panose="020B0503020204020204" charset="-122"/>
              </a:rPr>
              <a:t>设备资源</a:t>
            </a:r>
            <a:endParaRPr sz="9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3" name="Oval 12"/>
          <p:cNvSpPr/>
          <p:nvPr/>
        </p:nvSpPr>
        <p:spPr>
          <a:xfrm>
            <a:off x="2514600" y="4160520"/>
            <a:ext cx="9601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87752" y="4315968"/>
            <a:ext cx="822960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1">
                <a:solidFill>
                  <a:srgbClr val="091A30"/>
                </a:solidFill>
                <a:latin typeface="微软雅黑" panose="020B0503020204020204" charset="-122"/>
              </a:rPr>
              <a:t>状态反馈</a:t>
            </a:r>
            <a:endParaRPr sz="9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cxnSp>
        <p:nvCxnSpPr>
          <p:cNvPr id="15" name="Connector 14"/>
          <p:cNvCxnSpPr/>
          <p:nvPr/>
        </p:nvCxnSpPr>
        <p:spPr>
          <a:xfrm flipV="1">
            <a:off x="1783080" y="2514600"/>
            <a:ext cx="1005840" cy="457200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429000" y="2487168"/>
            <a:ext cx="685800" cy="85039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>
            <a:off x="3017520" y="3584448"/>
            <a:ext cx="1143000" cy="66751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 flipV="1">
            <a:off x="1691640" y="3218688"/>
            <a:ext cx="868680" cy="1033272"/>
          </a:xfrm>
          <a:prstGeom prst="line">
            <a:avLst/>
          </a:prstGeom>
          <a:ln w="1397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>
            <p:custDataLst>
              <p:tags r:id="rId1"/>
            </p:custDataLst>
          </p:nvPr>
        </p:nvSpPr>
        <p:spPr>
          <a:xfrm>
            <a:off x="6030214" y="598297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>
            <p:custDataLst>
              <p:tags r:id="rId2"/>
            </p:custDataLst>
          </p:nvPr>
        </p:nvSpPr>
        <p:spPr>
          <a:xfrm>
            <a:off x="5998210" y="566293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>
            <p:custDataLst>
              <p:tags r:id="rId3"/>
            </p:custDataLst>
          </p:nvPr>
        </p:nvSpPr>
        <p:spPr>
          <a:xfrm>
            <a:off x="5998210" y="566293"/>
            <a:ext cx="91440" cy="9601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>
            <p:custDataLst>
              <p:tags r:id="rId4"/>
            </p:custDataLst>
          </p:nvPr>
        </p:nvSpPr>
        <p:spPr>
          <a:xfrm>
            <a:off x="6181090" y="712597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任务不是单点动作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>
            <p:custDataLst>
              <p:tags r:id="rId5"/>
            </p:custDataLst>
          </p:nvPr>
        </p:nvSpPr>
        <p:spPr>
          <a:xfrm>
            <a:off x="6181090" y="1005205"/>
            <a:ext cx="21488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示例任务需要排队、调度和状态跟踪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>
            <p:custDataLst>
              <p:tags r:id="rId6"/>
            </p:custDataLst>
          </p:nvPr>
        </p:nvSpPr>
        <p:spPr>
          <a:xfrm>
            <a:off x="8773414" y="598297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>
            <p:custDataLst>
              <p:tags r:id="rId7"/>
            </p:custDataLst>
          </p:nvPr>
        </p:nvSpPr>
        <p:spPr>
          <a:xfrm>
            <a:off x="8741410" y="566293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>
            <p:custDataLst>
              <p:tags r:id="rId8"/>
            </p:custDataLst>
          </p:nvPr>
        </p:nvSpPr>
        <p:spPr>
          <a:xfrm>
            <a:off x="8741410" y="566293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>
            <p:custDataLst>
              <p:tags r:id="rId9"/>
            </p:custDataLst>
          </p:nvPr>
        </p:nvSpPr>
        <p:spPr>
          <a:xfrm>
            <a:off x="8924290" y="712597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资源存在竞争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>
            <p:custDataLst>
              <p:tags r:id="rId10"/>
            </p:custDataLst>
          </p:nvPr>
        </p:nvSpPr>
        <p:spPr>
          <a:xfrm>
            <a:off x="8924290" y="1005205"/>
            <a:ext cx="21488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机器人与工作站需要协同调度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>
            <p:custDataLst>
              <p:tags r:id="rId11"/>
            </p:custDataLst>
          </p:nvPr>
        </p:nvSpPr>
        <p:spPr>
          <a:xfrm>
            <a:off x="6030214" y="2024761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>
            <p:custDataLst>
              <p:tags r:id="rId12"/>
            </p:custDataLst>
          </p:nvPr>
        </p:nvSpPr>
        <p:spPr>
          <a:xfrm>
            <a:off x="5998210" y="1992757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>
            <p:custDataLst>
              <p:tags r:id="rId13"/>
            </p:custDataLst>
          </p:nvPr>
        </p:nvSpPr>
        <p:spPr>
          <a:xfrm>
            <a:off x="5998210" y="1992757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>
            <p:custDataLst>
              <p:tags r:id="rId14"/>
            </p:custDataLst>
          </p:nvPr>
        </p:nvSpPr>
        <p:spPr>
          <a:xfrm>
            <a:off x="6181090" y="2139061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需要工程闭环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>
            <p:custDataLst>
              <p:tags r:id="rId15"/>
            </p:custDataLst>
          </p:nvPr>
        </p:nvSpPr>
        <p:spPr>
          <a:xfrm>
            <a:off x="6181090" y="2431669"/>
            <a:ext cx="21488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接口、运行时、输出归档和测试验证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>
            <p:custDataLst>
              <p:tags r:id="rId16"/>
            </p:custDataLst>
          </p:nvPr>
        </p:nvSpPr>
        <p:spPr>
          <a:xfrm>
            <a:off x="8773414" y="2024761"/>
            <a:ext cx="24688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>
            <p:custDataLst>
              <p:tags r:id="rId17"/>
            </p:custDataLst>
          </p:nvPr>
        </p:nvSpPr>
        <p:spPr>
          <a:xfrm>
            <a:off x="8741410" y="1992757"/>
            <a:ext cx="24688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>
            <p:custDataLst>
              <p:tags r:id="rId18"/>
            </p:custDataLst>
          </p:nvPr>
        </p:nvSpPr>
        <p:spPr>
          <a:xfrm>
            <a:off x="8741410" y="1992757"/>
            <a:ext cx="914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>
            <p:custDataLst>
              <p:tags r:id="rId19"/>
            </p:custDataLst>
          </p:nvPr>
        </p:nvSpPr>
        <p:spPr>
          <a:xfrm>
            <a:off x="8924290" y="2139061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先做仿真原型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>
            <p:custDataLst>
              <p:tags r:id="rId20"/>
            </p:custDataLst>
          </p:nvPr>
        </p:nvSpPr>
        <p:spPr>
          <a:xfrm>
            <a:off x="8924290" y="2431669"/>
            <a:ext cx="21488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为后续硬件协议接入预留结构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pic>
        <p:nvPicPr>
          <p:cNvPr id="42" name="图片 41" descr="1_b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98210" y="3253105"/>
            <a:ext cx="5779770" cy="32537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项目目标与建设内容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构建可运行、可验证、可扩展的实验室机器人调度仿真原型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780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600200"/>
            <a:ext cx="91440" cy="14173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746504"/>
            <a:ext cx="20116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机器人任务抽象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039112"/>
            <a:ext cx="2011679" cy="9144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示例任务步骤
封装为可调度任务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350672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7472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474720" y="1600200"/>
            <a:ext cx="91440" cy="14173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746504"/>
            <a:ext cx="20116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实验室资源抽象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0" y="2039112"/>
            <a:ext cx="2011679" cy="9144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Workstation / Robot / Tool
描述仿真实验室资源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295644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263640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1600200"/>
            <a:ext cx="91440" cy="14173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746504"/>
            <a:ext cx="20116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调度运行时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46520" y="2039112"/>
            <a:ext cx="2011679" cy="9144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维护任务、时间、状态
和执行历史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9084563" y="1632204"/>
            <a:ext cx="2331720" cy="14173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052559" y="1600200"/>
            <a:ext cx="2331720" cy="14173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59" y="1600200"/>
            <a:ext cx="91440" cy="1417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35439" y="1746504"/>
            <a:ext cx="20116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验证闭环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235439" y="2039112"/>
            <a:ext cx="2011679" cy="9144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状态查询 / 时间推进
demo 输出与测试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2057400" y="3977639"/>
            <a:ext cx="8138160" cy="1051560"/>
          </a:xfrm>
          <a:prstGeom prst="roundRect">
            <a:avLst/>
          </a:prstGeom>
          <a:solidFill>
            <a:srgbClr val="EBF6FA"/>
          </a:solidFill>
          <a:ln w="10160">
            <a:solidFill>
              <a:srgbClr val="CD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23160" y="4233672"/>
            <a:ext cx="740664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700" b="1">
                <a:solidFill>
                  <a:srgbClr val="091A30"/>
                </a:solidFill>
                <a:latin typeface="微软雅黑" panose="020B0503020204020204" charset="-122"/>
              </a:rPr>
              <a:t>目标边界：当前展示的是 simulation / mock hardware 调度闭环</a:t>
            </a:r>
            <a:endParaRPr sz="17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2560320" y="4636008"/>
            <a:ext cx="713232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80" b="0">
                <a:solidFill>
                  <a:srgbClr val="5B6C80"/>
                </a:solidFill>
                <a:latin typeface="微软雅黑" panose="020B0503020204020204" charset="-122"/>
              </a:rPr>
              <a:t>不声明真实机械臂、真实仪器或真实实验执行已经接入</a:t>
            </a:r>
            <a:endParaRPr sz="9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需求分析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机器人任务调度、模拟设备接口和演示验证共同约束工程实现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8680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856231"/>
            <a:ext cx="420624" cy="420624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55064" y="1892807"/>
            <a:ext cx="155448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功能需求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344168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2638044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任务提交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344168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3168396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状态查询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344168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698748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时间推进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344168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29100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运行到完成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4572000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0600" y="1856231"/>
            <a:ext cx="420624" cy="42062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58384" y="1892807"/>
            <a:ext cx="155448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非功能需求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47488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93207" y="2638044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结构清晰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5047488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93207" y="3168396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可复现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5047488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93207" y="3698748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错误可返回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5047488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93207" y="4229100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结果可追踪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275319" y="1572768"/>
            <a:ext cx="2971800" cy="39319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503919" y="1856231"/>
            <a:ext cx="420624" cy="42062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61703" y="1892807"/>
            <a:ext cx="155448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展示需求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750807" y="2578608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96528" y="2638044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一键 demo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8750807" y="3108960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96528" y="3168396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结构化输出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8750807" y="3639311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96528" y="3698748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测试结果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8750807" y="4169663"/>
            <a:ext cx="2029968" cy="292608"/>
          </a:xfrm>
          <a:prstGeom prst="roundRect">
            <a:avLst/>
          </a:prstGeom>
          <a:solidFill>
            <a:srgbClr val="EC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96528" y="4229100"/>
            <a:ext cx="193852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1">
                <a:solidFill>
                  <a:srgbClr val="091A30"/>
                </a:solidFill>
                <a:latin typeface="微软雅黑" panose="020B0503020204020204" charset="-122"/>
              </a:rPr>
              <a:t>截图占位</a:t>
            </a:r>
            <a:endParaRPr sz="82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60120" y="5897880"/>
            <a:ext cx="98755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微软雅黑" panose="020B0503020204020204" charset="-122"/>
              </a:rPr>
              <a:t>实现原则：先完成可运行的软件原型，再为后续真实硬件接入保留边界。</a:t>
            </a:r>
            <a:endParaRPr sz="9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系统总体架构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接口层与调度层解耦，形成可运行的仿真调度闭环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75488" y="1234440"/>
            <a:ext cx="11228832" cy="2240280"/>
          </a:xfrm>
          <a:prstGeom prst="roundRect">
            <a:avLst/>
          </a:prstGeom>
          <a:solidFill>
            <a:srgbClr val="EEF6FC"/>
          </a:solidFill>
          <a:ln w="10160">
            <a:solidFill>
              <a:srgbClr val="DAE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86384" y="1444752"/>
            <a:ext cx="1828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50" b="1">
                <a:solidFill>
                  <a:srgbClr val="1E6BFF"/>
                </a:solidFill>
                <a:latin typeface="微软雅黑" panose="020B0503020204020204" charset="-122"/>
              </a:rPr>
              <a:t>主调用链</a:t>
            </a:r>
            <a:endParaRPr sz="850" b="1">
              <a:solidFill>
                <a:srgbClr val="1E6BFF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2694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49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984248"/>
            <a:ext cx="1014983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微软雅黑" panose="020B0503020204020204" charset="-122"/>
              </a:rPr>
              <a:t>用户 / Agent</a:t>
            </a:r>
            <a:endParaRPr sz="11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77824" y="2240280"/>
            <a:ext cx="1014983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微软雅黑" panose="020B0503020204020204" charset="-122"/>
              </a:rPr>
              <a:t>发起调用</a:t>
            </a:r>
            <a:endParaRPr sz="880" b="0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7824" y="2468880"/>
            <a:ext cx="1014983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微软雅黑" panose="020B0503020204020204" charset="-122"/>
              </a:rPr>
              <a:t>agent.py</a:t>
            </a:r>
            <a:endParaRPr sz="7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0665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28142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2494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9424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32304" y="1984248"/>
            <a:ext cx="1014983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微软雅黑" panose="020B0503020204020204" charset="-122"/>
              </a:rPr>
              <a:t>Action Server</a:t>
            </a:r>
            <a:endParaRPr sz="11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32304" y="2240280"/>
            <a:ext cx="1014983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微软雅黑" panose="020B0503020204020204" charset="-122"/>
              </a:rPr>
              <a:t>工具路由</a:t>
            </a:r>
            <a:endParaRPr sz="880" b="0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32304" y="2468880"/>
            <a:ext cx="1014983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微软雅黑" panose="020B0503020204020204" charset="-122"/>
              </a:rPr>
              <a:t>servers/action_server.py</a:t>
            </a:r>
            <a:endParaRPr sz="7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0" name="Right Arrow 19"/>
          <p:cNvSpPr/>
          <p:nvPr/>
        </p:nvSpPr>
        <p:spPr>
          <a:xfrm>
            <a:off x="362102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83590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80390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80390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86784" y="1984248"/>
            <a:ext cx="1014983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微软雅黑" panose="020B0503020204020204" charset="-122"/>
              </a:rPr>
              <a:t>Tools 封装</a:t>
            </a:r>
            <a:endParaRPr sz="11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86784" y="2240280"/>
            <a:ext cx="1014983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微软雅黑" panose="020B0503020204020204" charset="-122"/>
              </a:rPr>
              <a:t>参数转换</a:t>
            </a:r>
            <a:endParaRPr sz="880" b="0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986784" y="2468880"/>
            <a:ext cx="1014983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微软雅黑" panose="020B0503020204020204" charset="-122"/>
              </a:rPr>
              <a:t>tools/action_server_tools.py</a:t>
            </a:r>
            <a:endParaRPr sz="7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5175504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539038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358383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58383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41264" y="1984248"/>
            <a:ext cx="1014983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微软雅黑" panose="020B0503020204020204" charset="-122"/>
              </a:rPr>
              <a:t>Runtime</a:t>
            </a:r>
            <a:endParaRPr sz="11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541264" y="2240280"/>
            <a:ext cx="1014983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微软雅黑" panose="020B0503020204020204" charset="-122"/>
              </a:rPr>
              <a:t>维护状态</a:t>
            </a:r>
            <a:endParaRPr sz="880" b="0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541264" y="2468880"/>
            <a:ext cx="1014983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微软雅黑" panose="020B0503020204020204" charset="-122"/>
              </a:rPr>
              <a:t>scheduling/runtime.py</a:t>
            </a:r>
            <a:endParaRPr sz="7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4" name="Right Arrow 33"/>
          <p:cNvSpPr/>
          <p:nvPr/>
        </p:nvSpPr>
        <p:spPr>
          <a:xfrm>
            <a:off x="672998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94486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91286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12864" y="1847088"/>
            <a:ext cx="91440" cy="84124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95744" y="1984248"/>
            <a:ext cx="1014983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微软雅黑" panose="020B0503020204020204" charset="-122"/>
              </a:rPr>
              <a:t>Scheduler</a:t>
            </a:r>
            <a:endParaRPr sz="11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095744" y="2240280"/>
            <a:ext cx="1014983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微软雅黑" panose="020B0503020204020204" charset="-122"/>
              </a:rPr>
              <a:t>资源预留</a:t>
            </a:r>
            <a:endParaRPr sz="880" b="0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095744" y="2468880"/>
            <a:ext cx="1014983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微软雅黑" panose="020B0503020204020204" charset="-122"/>
              </a:rPr>
              <a:t>scheduling/scheduler.py</a:t>
            </a:r>
            <a:endParaRPr sz="7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1" name="Right Arrow 40"/>
          <p:cNvSpPr/>
          <p:nvPr/>
        </p:nvSpPr>
        <p:spPr>
          <a:xfrm>
            <a:off x="828446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49934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46734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46734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50224" y="1984248"/>
            <a:ext cx="1014983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微软雅黑" panose="020B0503020204020204" charset="-122"/>
              </a:rPr>
              <a:t>Models</a:t>
            </a:r>
            <a:endParaRPr sz="11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8650224" y="2240280"/>
            <a:ext cx="1014983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微软雅黑" panose="020B0503020204020204" charset="-122"/>
              </a:rPr>
              <a:t>任务资源</a:t>
            </a:r>
            <a:endParaRPr sz="880" b="0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8650224" y="2468880"/>
            <a:ext cx="1014983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微软雅黑" panose="020B0503020204020204" charset="-122"/>
              </a:rPr>
              <a:t>scheduling/models.py</a:t>
            </a:r>
            <a:endParaRPr sz="7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8" name="Right Arrow 47"/>
          <p:cNvSpPr/>
          <p:nvPr/>
        </p:nvSpPr>
        <p:spPr>
          <a:xfrm>
            <a:off x="9838943" y="2176272"/>
            <a:ext cx="201168" cy="164592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53828" y="1879092"/>
            <a:ext cx="1335024" cy="841248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021824" y="1847088"/>
            <a:ext cx="1335024" cy="84124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FD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021824" y="1847088"/>
            <a:ext cx="91440" cy="84124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204703" y="1984248"/>
            <a:ext cx="1014983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50" b="1">
                <a:solidFill>
                  <a:srgbClr val="091A30"/>
                </a:solidFill>
                <a:latin typeface="微软雅黑" panose="020B0503020204020204" charset="-122"/>
              </a:rPr>
              <a:t>demo_result</a:t>
            </a:r>
            <a:endParaRPr sz="11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10204703" y="2240280"/>
            <a:ext cx="1014983" cy="1828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0">
                <a:solidFill>
                  <a:srgbClr val="253140"/>
                </a:solidFill>
                <a:latin typeface="微软雅黑" panose="020B0503020204020204" charset="-122"/>
              </a:rPr>
              <a:t>结果归档</a:t>
            </a:r>
            <a:endParaRPr sz="880" b="0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0204703" y="2468880"/>
            <a:ext cx="1014983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00" b="0">
                <a:solidFill>
                  <a:srgbClr val="5B6C80"/>
                </a:solidFill>
                <a:latin typeface="微软雅黑" panose="020B0503020204020204" charset="-122"/>
              </a:rPr>
              <a:t>outputs/demo_result.json</a:t>
            </a:r>
            <a:endParaRPr sz="7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5" name="Rounded Rectangle 54"/>
          <p:cNvSpPr/>
          <p:nvPr/>
        </p:nvSpPr>
        <p:spPr>
          <a:xfrm>
            <a:off x="873252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841248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41248" y="3886200"/>
            <a:ext cx="91440" cy="89611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4128" y="4032504"/>
            <a:ext cx="26517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输入数据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024128" y="4325112"/>
            <a:ext cx="2651760" cy="39319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examples/*.json
示例任务、资源、工作流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4640580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608576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4608576" y="3886200"/>
            <a:ext cx="91440" cy="89611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791456" y="4032504"/>
            <a:ext cx="26517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调度能力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4791456" y="4325112"/>
            <a:ext cx="2651760" cy="39319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任务提交 / 状态查询
时间推进、执行记录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8407908" y="3918204"/>
            <a:ext cx="2971800" cy="89611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8375904" y="3886200"/>
            <a:ext cx="2971800" cy="89611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8375904" y="3886200"/>
            <a:ext cx="91440" cy="8961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558784" y="4032504"/>
            <a:ext cx="26517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验证闭环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558784" y="4325112"/>
            <a:ext cx="2651760" cy="39319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tests + demo smoke
输出结果可复现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70" name="Rounded Rectangle 69"/>
          <p:cNvSpPr/>
          <p:nvPr/>
        </p:nvSpPr>
        <p:spPr>
          <a:xfrm>
            <a:off x="658368" y="5559552"/>
            <a:ext cx="2057400" cy="493776"/>
          </a:xfrm>
          <a:prstGeom prst="roundRect">
            <a:avLst/>
          </a:prstGeom>
          <a:solidFill>
            <a:srgbClr val="09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786384" y="5650992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1">
                <a:solidFill>
                  <a:srgbClr val="FFFFFF"/>
                </a:solidFill>
                <a:latin typeface="微软雅黑" panose="020B0503020204020204" charset="-122"/>
              </a:rPr>
              <a:t>接口层</a:t>
            </a:r>
            <a:endParaRPr sz="88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1618488" y="5650992"/>
            <a:ext cx="86868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20" b="0">
                <a:solidFill>
                  <a:srgbClr val="C8E0EE"/>
                </a:solidFill>
                <a:latin typeface="微软雅黑" panose="020B0503020204020204" charset="-122"/>
              </a:rPr>
              <a:t>工具路由</a:t>
            </a:r>
            <a:endParaRPr sz="820" b="0">
              <a:solidFill>
                <a:srgbClr val="C8E0EE"/>
              </a:solidFill>
              <a:latin typeface="微软雅黑" panose="020B0503020204020204" charset="-122"/>
            </a:endParaRPr>
          </a:p>
        </p:txBody>
      </p:sp>
      <p:sp>
        <p:nvSpPr>
          <p:cNvPr id="73" name="Rounded Rectangle 72"/>
          <p:cNvSpPr/>
          <p:nvPr/>
        </p:nvSpPr>
        <p:spPr>
          <a:xfrm>
            <a:off x="2871215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999232" y="5650992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微软雅黑" panose="020B0503020204020204" charset="-122"/>
              </a:rPr>
              <a:t>运行时层</a:t>
            </a:r>
            <a:endParaRPr sz="8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75" name="TextBox 74"/>
          <p:cNvSpPr txBox="1"/>
          <p:nvPr/>
        </p:nvSpPr>
        <p:spPr>
          <a:xfrm>
            <a:off x="3831335" y="5650992"/>
            <a:ext cx="86868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20" b="0">
                <a:solidFill>
                  <a:srgbClr val="5B6C80"/>
                </a:solidFill>
                <a:latin typeface="微软雅黑" panose="020B0503020204020204" charset="-122"/>
              </a:rPr>
              <a:t>状态维护</a:t>
            </a:r>
            <a:endParaRPr sz="8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76" name="Rounded Rectangle 75"/>
          <p:cNvSpPr/>
          <p:nvPr/>
        </p:nvSpPr>
        <p:spPr>
          <a:xfrm>
            <a:off x="5084064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79" y="5650992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微软雅黑" panose="020B0503020204020204" charset="-122"/>
              </a:rPr>
              <a:t>调度层</a:t>
            </a:r>
            <a:endParaRPr sz="8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78" name="TextBox 77"/>
          <p:cNvSpPr txBox="1"/>
          <p:nvPr/>
        </p:nvSpPr>
        <p:spPr>
          <a:xfrm>
            <a:off x="6044183" y="5650992"/>
            <a:ext cx="86868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20" b="0">
                <a:solidFill>
                  <a:srgbClr val="5B6C80"/>
                </a:solidFill>
                <a:latin typeface="微软雅黑" panose="020B0503020204020204" charset="-122"/>
              </a:rPr>
              <a:t>资源预留</a:t>
            </a:r>
            <a:endParaRPr sz="8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79" name="Rounded Rectangle 78"/>
          <p:cNvSpPr/>
          <p:nvPr/>
        </p:nvSpPr>
        <p:spPr>
          <a:xfrm>
            <a:off x="7296912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424927" y="5650992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微软雅黑" panose="020B0503020204020204" charset="-122"/>
              </a:rPr>
              <a:t>数据模型层</a:t>
            </a:r>
            <a:endParaRPr sz="8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8257031" y="5650992"/>
            <a:ext cx="86868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20" b="0">
                <a:solidFill>
                  <a:srgbClr val="5B6C80"/>
                </a:solidFill>
                <a:latin typeface="微软雅黑" panose="020B0503020204020204" charset="-122"/>
              </a:rPr>
              <a:t>任务资源</a:t>
            </a:r>
            <a:endParaRPr sz="8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82" name="Rounded Rectangle 81"/>
          <p:cNvSpPr/>
          <p:nvPr/>
        </p:nvSpPr>
        <p:spPr>
          <a:xfrm>
            <a:off x="9509759" y="5559552"/>
            <a:ext cx="2057400" cy="493776"/>
          </a:xfrm>
          <a:prstGeom prst="roundRect">
            <a:avLst/>
          </a:prstGeom>
          <a:solidFill>
            <a:srgbClr val="E2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9637776" y="5650992"/>
            <a:ext cx="749808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80" b="1">
                <a:solidFill>
                  <a:srgbClr val="091A30"/>
                </a:solidFill>
                <a:latin typeface="微软雅黑" panose="020B0503020204020204" charset="-122"/>
              </a:rPr>
              <a:t>验证层</a:t>
            </a:r>
            <a:endParaRPr sz="8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4" name="TextBox 83"/>
          <p:cNvSpPr txBox="1"/>
          <p:nvPr/>
        </p:nvSpPr>
        <p:spPr>
          <a:xfrm>
            <a:off x="10469880" y="5650992"/>
            <a:ext cx="86868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820" b="0">
                <a:solidFill>
                  <a:srgbClr val="5B6C80"/>
                </a:solidFill>
                <a:latin typeface="微软雅黑" panose="020B0503020204020204" charset="-122"/>
              </a:rPr>
              <a:t>测试归档</a:t>
            </a:r>
            <a:endParaRPr sz="8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核心调用链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从工具请求到调度状态反馈的闭环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921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60120" y="1417320"/>
            <a:ext cx="91440" cy="107899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563624"/>
            <a:ext cx="23317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用户 / Agent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43000" y="1856232"/>
            <a:ext cx="2331720" cy="57607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发起工具调用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703320" y="185623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6497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177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7720" y="1417320"/>
            <a:ext cx="91440" cy="1078992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00600" y="1563624"/>
            <a:ext cx="23317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Action Server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800600" y="1856232"/>
            <a:ext cx="2331720" cy="57607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解析 JSON-RPC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7360920" y="185623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07324" y="144932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75320" y="141732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141732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58200" y="1563624"/>
            <a:ext cx="23317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Tools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458200" y="1856232"/>
            <a:ext cx="2331720" cy="57607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转为 Runtime 方法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9921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601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3483864"/>
            <a:ext cx="23317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Runtime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43000" y="3776472"/>
            <a:ext cx="2331720" cy="57607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提交任务 / 推进时间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7" name="Right Arrow 26"/>
          <p:cNvSpPr/>
          <p:nvPr/>
        </p:nvSpPr>
        <p:spPr>
          <a:xfrm>
            <a:off x="3703320" y="377647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6497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6177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6177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0600" y="3483864"/>
            <a:ext cx="23317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Scheduler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800600" y="3776472"/>
            <a:ext cx="2331720" cy="57607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生成 START_PROCESSING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3" name="Right Arrow 32"/>
          <p:cNvSpPr/>
          <p:nvPr/>
        </p:nvSpPr>
        <p:spPr>
          <a:xfrm>
            <a:off x="7360920" y="3776472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307324" y="3369564"/>
            <a:ext cx="2651760" cy="1078992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275320" y="3337560"/>
            <a:ext cx="2651760" cy="107899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20" y="3337560"/>
            <a:ext cx="91440" cy="1078992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58200" y="3483864"/>
            <a:ext cx="23317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Status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458200" y="3776472"/>
            <a:ext cx="2331720" cy="576071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返回状态快照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cxnSp>
        <p:nvCxnSpPr>
          <p:cNvPr id="39" name="Connector 38"/>
          <p:cNvCxnSpPr/>
          <p:nvPr/>
        </p:nvCxnSpPr>
        <p:spPr>
          <a:xfrm>
            <a:off x="9692640" y="2514600"/>
            <a:ext cx="0" cy="640080"/>
          </a:xfrm>
          <a:prstGeom prst="line">
            <a:avLst/>
          </a:prstGeom>
          <a:ln w="15240">
            <a:solidFill>
              <a:srgbClr val="12C4D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ight Arrow 39"/>
          <p:cNvSpPr/>
          <p:nvPr/>
        </p:nvSpPr>
        <p:spPr>
          <a:xfrm>
            <a:off x="9372600" y="3063240"/>
            <a:ext cx="64008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874519" y="5577840"/>
            <a:ext cx="8412480" cy="512064"/>
          </a:xfrm>
          <a:prstGeom prst="roundRect">
            <a:avLst/>
          </a:prstGeom>
          <a:solidFill>
            <a:srgbClr val="EA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103120" y="5724144"/>
            <a:ext cx="7955279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5B6C80"/>
                </a:solidFill>
                <a:latin typeface="微软雅黑" panose="020B0503020204020204" charset="-122"/>
              </a:rPr>
              <a:t>真实文件：servers/action_server.py / tools/action_server_tools.py / scheduling/runtime.py</a:t>
            </a:r>
            <a:endParaRPr sz="8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7" name="Connector 26"/>
          <p:cNvCxnSpPr/>
          <p:nvPr/>
        </p:nvCxnSpPr>
        <p:spPr>
          <a:xfrm flipH="1">
            <a:off x="2240280" y="2807208"/>
            <a:ext cx="3794760" cy="1719072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H="1" flipV="1">
            <a:off x="2240280" y="2057400"/>
            <a:ext cx="3794760" cy="749808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6035040" y="2057400"/>
            <a:ext cx="3794760" cy="749808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6035040" y="2807208"/>
            <a:ext cx="3794760" cy="1719072"/>
          </a:xfrm>
          <a:prstGeom prst="line">
            <a:avLst/>
          </a:prstGeom>
          <a:ln w="11430">
            <a:solidFill>
              <a:srgbClr val="9EBE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调度模型设计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用统一数据模型承接机器人任务和仿真资源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4802124" y="2389124"/>
            <a:ext cx="2560320" cy="11430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770120" y="2357120"/>
            <a:ext cx="2560320" cy="1143000"/>
          </a:xfrm>
          <a:prstGeom prst="roundRect">
            <a:avLst/>
          </a:prstGeom>
          <a:solidFill>
            <a:srgbClr val="EBF6FA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70120" y="2357120"/>
            <a:ext cx="91440" cy="11430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53000" y="2503424"/>
            <a:ext cx="22402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Task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953000" y="2796032"/>
            <a:ext cx="2240279" cy="64008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workflow_tools
processing_times
status / current_step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037844" y="158648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155448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05840" y="1554480"/>
            <a:ext cx="91440" cy="10058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1700784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Resource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188720" y="1993391"/>
            <a:ext cx="214884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timeline
current_task_id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8627364" y="158648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95360" y="155448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595360" y="1554480"/>
            <a:ext cx="91440" cy="10058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0" y="1700784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Workstation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778240" y="1993391"/>
            <a:ext cx="214884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tools
reaction / measure / char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1037844" y="405536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005840" y="402336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05840" y="4023360"/>
            <a:ext cx="914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169664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Robot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188720" y="4462272"/>
            <a:ext cx="214884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transfer timeline
RB_1 / RB_2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627364" y="4055364"/>
            <a:ext cx="2468880" cy="10058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595360" y="4023360"/>
            <a:ext cx="2468880" cy="10058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95360" y="4023360"/>
            <a:ext cx="91440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778240" y="4169664"/>
            <a:ext cx="21488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Tool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778240" y="4462272"/>
            <a:ext cx="2148840" cy="5029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reaction_tool
hplc_tool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3977639" y="4251960"/>
            <a:ext cx="4069080" cy="1170432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42231" y="4379976"/>
            <a:ext cx="3739896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1">
                <a:solidFill>
                  <a:srgbClr val="12C4DA"/>
                </a:solidFill>
                <a:latin typeface="微软雅黑" panose="020B0503020204020204" charset="-122"/>
              </a:rPr>
              <a:t>scheduling/models.py</a:t>
            </a:r>
            <a:endParaRPr sz="102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142231" y="4690872"/>
            <a:ext cx="3739896" cy="6035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 panose="020B0609020204030204"/>
              </a:rPr>
              <a:t>TaskStatus: WAITING / RUNNING / COMPLETED / ERROR
ResourceStatus: IDLE / BUSY / RESERVED / TRANSPORTING</a:t>
            </a:r>
            <a:endParaRPr sz="780" b="0">
              <a:solidFill>
                <a:srgbClr val="DCEBF4"/>
              </a:solidFill>
              <a:latin typeface="Consolas" panose="020B0609020204030204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任务状态流转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运行时维护任务状态与资源状态的可观测变化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91440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E6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176272"/>
            <a:ext cx="146304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WAITING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3749039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2C4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931920" y="2176272"/>
            <a:ext cx="146304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RUNNING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0" y="2176272"/>
            <a:ext cx="146304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COMPLETED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9418320" y="1920240"/>
            <a:ext cx="1828800" cy="731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F59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0" y="2176272"/>
            <a:ext cx="146304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ERROR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2788920" y="2221992"/>
            <a:ext cx="68580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5623560" y="2221992"/>
            <a:ext cx="685800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ight Arrow 14"/>
          <p:cNvSpPr/>
          <p:nvPr/>
        </p:nvSpPr>
        <p:spPr>
          <a:xfrm>
            <a:off x="8458200" y="2221992"/>
            <a:ext cx="685800" cy="146304"/>
          </a:xfrm>
          <a:prstGeom prst="rightArrow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2606040"/>
            <a:ext cx="82296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780" b="0">
                <a:solidFill>
                  <a:srgbClr val="5B6C80"/>
                </a:solidFill>
                <a:latin typeface="微软雅黑" panose="020B0503020204020204" charset="-122"/>
              </a:rPr>
              <a:t>调度命令</a:t>
            </a:r>
            <a:endParaRPr sz="7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650992" y="2606040"/>
            <a:ext cx="777240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780" b="0">
                <a:solidFill>
                  <a:srgbClr val="5B6C80"/>
                </a:solidFill>
                <a:latin typeface="微软雅黑" panose="020B0503020204020204" charset="-122"/>
              </a:rPr>
              <a:t>步骤完成</a:t>
            </a:r>
            <a:endParaRPr sz="7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6403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1440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4400" y="3749039"/>
            <a:ext cx="91440" cy="96012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97280" y="3895344"/>
            <a:ext cx="2560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任务状态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97280" y="4187952"/>
            <a:ext cx="256032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WAITING -&gt; RUNNING -&gt; COMPLETED
ERROR 为预留状态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4695444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466344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63440" y="3749039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46320" y="3895344"/>
            <a:ext cx="2560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资源状态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846320" y="4187952"/>
            <a:ext cx="256032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IDLE / BUSY / RESERVED
MOVING_TO_PICKUP / TRANSPORTING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8444484" y="3781044"/>
            <a:ext cx="288036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412480" y="3749039"/>
            <a:ext cx="288036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412480" y="3749039"/>
            <a:ext cx="91440" cy="9601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59" y="3895344"/>
            <a:ext cx="256032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状态快照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595359" y="4187952"/>
            <a:ext cx="256032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get_runtime_status()
输出任务、资源、历史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工具接口设计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Action Server 对外暴露 6 个原型系统工具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808" y="1298448"/>
            <a:ext cx="5120640" cy="41605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327648" y="1298448"/>
            <a:ext cx="5120640" cy="41605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49808" y="1298448"/>
            <a:ext cx="5120640" cy="566928"/>
          </a:xfrm>
          <a:prstGeom prst="rect">
            <a:avLst/>
          </a:prstGeom>
          <a:solidFill>
            <a:srgbClr val="E8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7648" y="1298448"/>
            <a:ext cx="5120640" cy="566928"/>
          </a:xfrm>
          <a:prstGeom prst="rect">
            <a:avLst/>
          </a:prstGeom>
          <a:solidFill>
            <a:srgbClr val="E5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51560" y="1472184"/>
            <a:ext cx="237744" cy="237744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629400" y="1472184"/>
            <a:ext cx="237744" cy="23774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1453896"/>
            <a:ext cx="192024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任务提交类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995160" y="1453896"/>
            <a:ext cx="192024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600" b="1">
                <a:solidFill>
                  <a:srgbClr val="091A30"/>
                </a:solidFill>
                <a:latin typeface="微软雅黑" panose="020B0503020204020204" charset="-122"/>
              </a:rPr>
              <a:t>调度控制类</a:t>
            </a:r>
            <a:endParaRPr sz="16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20440" y="1517904"/>
            <a:ext cx="155448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20" b="0">
                <a:solidFill>
                  <a:srgbClr val="5B6C80"/>
                </a:solidFill>
                <a:latin typeface="微软雅黑" panose="020B0503020204020204" charset="-122"/>
              </a:rPr>
              <a:t>3 tools</a:t>
            </a:r>
            <a:endParaRPr sz="8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98280" y="1517904"/>
            <a:ext cx="1554480" cy="14630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r"/>
            <a:r>
              <a:rPr sz="820" b="0">
                <a:solidFill>
                  <a:srgbClr val="5B6C80"/>
                </a:solidFill>
                <a:latin typeface="微软雅黑" panose="020B0503020204020204" charset="-122"/>
              </a:rPr>
              <a:t>3 tools</a:t>
            </a:r>
            <a:endParaRPr sz="8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1110995" y="2180844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78992" y="2148840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078992" y="2148840"/>
            <a:ext cx="91440" cy="603504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61872" y="2295144"/>
            <a:ext cx="40233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robotic_reaction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261872" y="2587752"/>
            <a:ext cx="4023360" cy="100583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提交示例反应步骤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1110995" y="3022092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78992" y="2990088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78992" y="2990088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261872" y="3136392"/>
            <a:ext cx="40233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robotic_measurement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261872" y="3429000"/>
            <a:ext cx="4023360" cy="100583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提交示例测量步骤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110995" y="3863340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78992" y="3831336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78992" y="3831336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261872" y="3977640"/>
            <a:ext cx="40233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robotic_characterization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261872" y="4270248"/>
            <a:ext cx="4023360" cy="100583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提交示例表征步骤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6688836" y="2180844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656832" y="2148840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56832" y="2148840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39712" y="2295144"/>
            <a:ext cx="40233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scheduler_status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6839712" y="2587752"/>
            <a:ext cx="4023360" cy="100583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查询状态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88836" y="3022092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656832" y="2990088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56832" y="2990088"/>
            <a:ext cx="91440" cy="60350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39712" y="3136392"/>
            <a:ext cx="40233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scheduler_advance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39712" y="3429000"/>
            <a:ext cx="4023360" cy="100583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推进时间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6688836" y="3863340"/>
            <a:ext cx="4343400" cy="60350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656832" y="3831336"/>
            <a:ext cx="4343400" cy="603504"/>
          </a:xfrm>
          <a:prstGeom prst="roundRect">
            <a:avLst/>
          </a:prstGeom>
          <a:solidFill>
            <a:srgbClr val="F1F8FC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56832" y="3831336"/>
            <a:ext cx="91440" cy="60350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39712" y="3977640"/>
            <a:ext cx="402336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100" b="1">
                <a:solidFill>
                  <a:srgbClr val="091A30"/>
                </a:solidFill>
                <a:latin typeface="微软雅黑" panose="020B0503020204020204" charset="-122"/>
              </a:rPr>
              <a:t>scheduler_run_until_complete</a:t>
            </a:r>
            <a:endParaRPr sz="11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839712" y="4270248"/>
            <a:ext cx="4023360" cy="100583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运行到完成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2103120" y="5742432"/>
            <a:ext cx="7955279" cy="384048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331720" y="5861304"/>
            <a:ext cx="7498079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20" b="0">
                <a:solidFill>
                  <a:srgbClr val="5B6C80"/>
                </a:solidFill>
                <a:latin typeface="微软雅黑" panose="020B0503020204020204" charset="-122"/>
              </a:rPr>
              <a:t>实现依据：servers/action_server.py 的 AVAILABLE_TOOLS_ACTION 与 capability 声明</a:t>
            </a:r>
            <a:endParaRPr sz="8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示例数据与资源设计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使用模拟工作站、机器人和示例 workflow 支撑演示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244" y="1403604"/>
            <a:ext cx="3017520" cy="10515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371600"/>
            <a:ext cx="30175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371600"/>
            <a:ext cx="91440" cy="105156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517904"/>
            <a:ext cx="26974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模拟工作站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1810512"/>
            <a:ext cx="2697479" cy="54863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WS_REACTOR_A
WS_MEASURE_A
WS_CHAR_A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809244" y="2820924"/>
            <a:ext cx="3017520" cy="105156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77240" y="2788920"/>
            <a:ext cx="301752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2788920"/>
            <a:ext cx="91440" cy="105156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2935224"/>
            <a:ext cx="26974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模拟机器人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60120" y="3227832"/>
            <a:ext cx="2697479" cy="54863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RB_1：转运样品
RB_2：备用资源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224655" y="1353185"/>
            <a:ext cx="3200400" cy="3314065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481328"/>
            <a:ext cx="2070100" cy="250825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2C4DA"/>
                </a:solidFill>
                <a:latin typeface="微软雅黑" panose="020B0503020204020204" charset="-122"/>
              </a:rPr>
              <a:t>sample_</a:t>
            </a:r>
            <a:r>
              <a:rPr lang="en-US" sz="1400" b="1">
                <a:solidFill>
                  <a:srgbClr val="12C4DA"/>
                </a:solidFill>
                <a:latin typeface="微软雅黑" panose="020B0503020204020204" charset="-122"/>
              </a:rPr>
              <a:t>resources</a:t>
            </a:r>
            <a:r>
              <a:rPr sz="1400" b="1">
                <a:solidFill>
                  <a:srgbClr val="12C4DA"/>
                </a:solidFill>
                <a:latin typeface="微软雅黑" panose="020B0503020204020204" charset="-122"/>
              </a:rPr>
              <a:t>.json</a:t>
            </a:r>
            <a:endParaRPr sz="14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389120" y="1792224"/>
            <a:ext cx="2866390" cy="2651125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00" b="0">
                <a:solidFill>
                  <a:srgbClr val="DCEBF4"/>
                </a:solidFill>
                <a:latin typeface="Consolas" panose="020B0609020204030204"/>
              </a:rPr>
              <a:t>"</a:t>
            </a:r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workstations": [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{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  "id": "WS_REACTOR_A",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  "name": "Reactor workstation A",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  "tools": ["reaction_tool"],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  "role": "Runs mock reaction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protocols"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}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]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"robots": [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{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  "id": "RB_1",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  "name": "Mobile robot 1",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  "role": "Transfers samples between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workstations"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}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]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09244" y="4333494"/>
            <a:ext cx="3246120" cy="109728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77240" y="4301490"/>
            <a:ext cx="3246120" cy="10972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77240" y="4301490"/>
            <a:ext cx="91440" cy="10972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447794"/>
            <a:ext cx="29260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091A30"/>
                </a:solidFill>
                <a:latin typeface="微软雅黑" panose="020B0503020204020204" charset="-122"/>
              </a:rPr>
              <a:t>示例 workflow</a:t>
            </a:r>
            <a:endParaRPr sz="14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41705" y="4793107"/>
            <a:ext cx="2926079" cy="59435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reaction -&gt; yield -&gt; hplc
用于演示的任务步骤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0120" y="5715000"/>
            <a:ext cx="1005840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这些资源均为 simulation/mock 配置，用于验证调度逻辑，不代表真实硬件接入。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14"/>
          <p:cNvSpPr/>
          <p:nvPr/>
        </p:nvSpPr>
        <p:spPr>
          <a:xfrm>
            <a:off x="8069580" y="1353185"/>
            <a:ext cx="3200400" cy="390652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15"/>
          <p:cNvSpPr txBox="1"/>
          <p:nvPr/>
        </p:nvSpPr>
        <p:spPr>
          <a:xfrm>
            <a:off x="8427720" y="1461008"/>
            <a:ext cx="2048510" cy="250825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400" b="1">
                <a:solidFill>
                  <a:srgbClr val="12C4DA"/>
                </a:solidFill>
                <a:latin typeface="微软雅黑" panose="020B0503020204020204" charset="-122"/>
              </a:rPr>
              <a:t>sample_</a:t>
            </a:r>
            <a:r>
              <a:rPr lang="en-US" sz="1400" b="1">
                <a:solidFill>
                  <a:srgbClr val="12C4DA"/>
                </a:solidFill>
                <a:latin typeface="微软雅黑" panose="020B0503020204020204" charset="-122"/>
              </a:rPr>
              <a:t>workflow</a:t>
            </a:r>
            <a:r>
              <a:rPr sz="1400" b="1">
                <a:solidFill>
                  <a:srgbClr val="12C4DA"/>
                </a:solidFill>
                <a:latin typeface="微软雅黑" panose="020B0503020204020204" charset="-122"/>
              </a:rPr>
              <a:t>.json</a:t>
            </a:r>
            <a:endParaRPr sz="14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30" name="TextBox 16"/>
          <p:cNvSpPr txBox="1"/>
          <p:nvPr/>
        </p:nvSpPr>
        <p:spPr>
          <a:xfrm>
            <a:off x="8069580" y="1711960"/>
            <a:ext cx="3161030" cy="326707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{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"workflow_id": "demo_three_step_flow",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"sample_id": "SAMPLE-FLOW-001",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"description": "Mock reaction-measurement-characterization chain for scheduler display.",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"workflow_tools": ["reaction_tool", "yield_measurement_tool", "hplc_tool"],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"processing_times": {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"reaction_tool": 18,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"yield_measurement_tool": 12,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"hplc_tool": 16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},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"seamless_steps": [[0, 1]],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"metadata": {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"task_type": "integrated_workflow",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"workflow_name": "reaction_to_hplc_demo",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  "simulation_only": true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  }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r>
              <a:rPr lang="en-US" altLang="zh-CN" sz="1000" b="0">
                <a:solidFill>
                  <a:srgbClr val="DCEBF4"/>
                </a:solidFill>
                <a:latin typeface="Consolas" panose="020B0609020204030204"/>
              </a:rPr>
              <a:t>}</a:t>
            </a:r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  <a:p>
            <a:pPr algn="l"/>
            <a:endParaRPr lang="en-US" altLang="zh-CN" sz="1000" b="0">
              <a:solidFill>
                <a:srgbClr val="DCEBF4"/>
              </a:solidFill>
              <a:latin typeface="Consolas" panose="020B0609020204030204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Demo 演示流程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从示例数据到结构化输出，验证机器人调度原型可运行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566928" y="1325880"/>
            <a:ext cx="11045952" cy="1627632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D5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68680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1810512"/>
            <a:ext cx="256032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091A30"/>
                </a:solidFill>
                <a:latin typeface="微软雅黑" panose="020B0503020204020204" charset="-122"/>
              </a:rPr>
              <a:t>1</a:t>
            </a:r>
            <a:endParaRPr sz="8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1207" y="2313432"/>
            <a:ext cx="117043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微软雅黑" panose="020B0503020204020204" charset="-122"/>
              </a:rPr>
              <a:t>加载示例数据</a:t>
            </a:r>
            <a:endParaRPr sz="96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144475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65176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70632" y="1810512"/>
            <a:ext cx="256032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304288" y="2313432"/>
            <a:ext cx="117043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微软雅黑" panose="020B0503020204020204" charset="-122"/>
              </a:rPr>
              <a:t>提交任务请求</a:t>
            </a:r>
            <a:endParaRPr sz="96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3227832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40740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1810512"/>
            <a:ext cx="256032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59936" y="2313432"/>
            <a:ext cx="117043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微软雅黑" panose="020B0503020204020204" charset="-122"/>
              </a:rPr>
              <a:t>分配资源</a:t>
            </a:r>
            <a:endParaRPr sz="96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498348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099048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1810512"/>
            <a:ext cx="256032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751576" y="2313432"/>
            <a:ext cx="117043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微软雅黑" panose="020B0503020204020204" charset="-122"/>
              </a:rPr>
              <a:t>推进模拟时间</a:t>
            </a:r>
            <a:endParaRPr sz="96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6675120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27264" y="1673352"/>
            <a:ext cx="493776" cy="493776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46136" y="1810512"/>
            <a:ext cx="256032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479792" y="2313432"/>
            <a:ext cx="117043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微软雅黑" panose="020B0503020204020204" charset="-122"/>
              </a:rPr>
              <a:t>查询状态</a:t>
            </a:r>
            <a:endParaRPr sz="96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5" name="Right Arrow 24"/>
          <p:cNvSpPr/>
          <p:nvPr/>
        </p:nvSpPr>
        <p:spPr>
          <a:xfrm>
            <a:off x="8403336" y="1837943"/>
            <a:ext cx="950976" cy="128016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555480" y="1673352"/>
            <a:ext cx="493776" cy="493776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74352" y="1810512"/>
            <a:ext cx="256032" cy="10972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6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208007" y="2313432"/>
            <a:ext cx="117043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60" b="1">
                <a:solidFill>
                  <a:srgbClr val="091A30"/>
                </a:solidFill>
                <a:latin typeface="微软雅黑" panose="020B0503020204020204" charset="-122"/>
              </a:rPr>
              <a:t>输出结果</a:t>
            </a:r>
            <a:endParaRPr sz="96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82980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50976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" y="3703320"/>
            <a:ext cx="91440" cy="969264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33856" y="3849624"/>
            <a:ext cx="26060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任务状态变化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133856" y="4142231"/>
            <a:ext cx="2606040" cy="4663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4 个任务全部完成
TASK-0004 为三步 workflow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4658868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4626864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626864" y="3703320"/>
            <a:ext cx="91440" cy="969264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9744" y="3849624"/>
            <a:ext cx="26060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模拟时间推进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809744" y="4142231"/>
            <a:ext cx="2606040" cy="4663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final time = 152
中途 time 39 产生完成事件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8334756" y="3735324"/>
            <a:ext cx="2926080" cy="969264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302752" y="3703320"/>
            <a:ext cx="2926080" cy="969264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302752" y="3703320"/>
            <a:ext cx="91440" cy="9692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85632" y="3849624"/>
            <a:ext cx="26060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输出结果归档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485632" y="4142231"/>
            <a:ext cx="2606040" cy="4663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demo_result.json
all_completed: true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2926080" y="5230368"/>
            <a:ext cx="6327648" cy="530352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182112" y="5376672"/>
            <a:ext cx="580644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微软雅黑" panose="020B0503020204020204" charset="-122"/>
              </a:rPr>
              <a:t>真实依据：AIChemMCP-main/outputs/demo_result.json；当前为 simulation / mock hardware。</a:t>
            </a:r>
            <a:endParaRPr sz="8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Demo 运行结果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结果看板展示任务完成、资源占用与输出归档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527048"/>
            <a:ext cx="18288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500" b="1">
                <a:solidFill>
                  <a:srgbClr val="1E6BFF"/>
                </a:solidFill>
                <a:latin typeface="微软雅黑" panose="020B0503020204020204" charset="-122"/>
              </a:rPr>
              <a:t>4</a:t>
            </a:r>
            <a:endParaRPr sz="2500" b="1">
              <a:solidFill>
                <a:srgbClr val="1E6B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60120" y="1947672"/>
            <a:ext cx="1828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微软雅黑" panose="020B0503020204020204" charset="-122"/>
              </a:rPr>
              <a:t>submitted tasks</a:t>
            </a:r>
            <a:endParaRPr sz="8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566160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49039" y="1527048"/>
            <a:ext cx="18288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500" b="1">
                <a:solidFill>
                  <a:srgbClr val="12C4DA"/>
                </a:solidFill>
                <a:latin typeface="微软雅黑" panose="020B0503020204020204" charset="-122"/>
              </a:rPr>
              <a:t>152</a:t>
            </a:r>
            <a:endParaRPr sz="25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49039" y="1947672"/>
            <a:ext cx="1828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微软雅黑" panose="020B0503020204020204" charset="-122"/>
              </a:rPr>
              <a:t>simulation time</a:t>
            </a:r>
            <a:endParaRPr sz="8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355079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37959" y="1527048"/>
            <a:ext cx="18288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500" b="1">
                <a:solidFill>
                  <a:srgbClr val="27AE60"/>
                </a:solidFill>
                <a:latin typeface="微软雅黑" panose="020B0503020204020204" charset="-122"/>
              </a:rPr>
              <a:t>true</a:t>
            </a:r>
            <a:endParaRPr sz="25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7959" y="1947672"/>
            <a:ext cx="1828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微软雅黑" panose="020B0503020204020204" charset="-122"/>
              </a:rPr>
              <a:t>all_completed</a:t>
            </a:r>
            <a:endParaRPr sz="8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143999" y="1325880"/>
            <a:ext cx="2240280" cy="1051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527048"/>
            <a:ext cx="1828800" cy="29260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500" b="1">
                <a:solidFill>
                  <a:srgbClr val="F59240"/>
                </a:solidFill>
                <a:latin typeface="微软雅黑" panose="020B0503020204020204" charset="-122"/>
              </a:rPr>
              <a:t>113</a:t>
            </a:r>
            <a:endParaRPr sz="2500" b="1">
              <a:solidFill>
                <a:srgbClr val="F5924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326880" y="1947672"/>
            <a:ext cx="18288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微软雅黑" panose="020B0503020204020204" charset="-122"/>
              </a:rPr>
              <a:t>steps_run</a:t>
            </a:r>
            <a:endParaRPr sz="8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868680" y="2907665"/>
            <a:ext cx="4846320" cy="1317625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33145" y="3035935"/>
            <a:ext cx="4517390" cy="130810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l"/>
            <a:r>
              <a:rPr sz="1020" b="1">
                <a:solidFill>
                  <a:srgbClr val="12C4DA"/>
                </a:solidFill>
                <a:latin typeface="微软雅黑" panose="020B0503020204020204" charset="-122"/>
              </a:rPr>
              <a:t>demo_result.json 摘要</a:t>
            </a:r>
            <a:endParaRPr sz="102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33145" y="3346450"/>
            <a:ext cx="4517390" cy="949960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 panose="020B0609020204030204"/>
              </a:rPr>
              <a:t>"demo_mode": "simulation"
"final": {
  "time": 152,
  "all_completed": true
}
"TASK-0004": "COMPLETED"</a:t>
            </a:r>
            <a:endParaRPr sz="780" b="0">
              <a:solidFill>
                <a:srgbClr val="DCEBF4"/>
              </a:solidFill>
              <a:latin typeface="Consolas" panose="020B0609020204030204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72084" y="4743196"/>
            <a:ext cx="23774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0080" y="4711192"/>
            <a:ext cx="23774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0080" y="4711192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4857496"/>
            <a:ext cx="205740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工作站结果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00100" y="5061204"/>
            <a:ext cx="2057400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WS_REACTOR_A
WS_MEASURE_A
WS_CHAR_A
最终均 IDLE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3415284" y="4743196"/>
            <a:ext cx="23774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383280" y="4711192"/>
            <a:ext cx="23774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83280" y="4711192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59" y="4857496"/>
            <a:ext cx="205740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机器人结果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3566159" y="5150104"/>
            <a:ext cx="2057400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RB_1 处理 TASK-0004
RB_2 未占用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pic>
        <p:nvPicPr>
          <p:cNvPr id="33" name="图片 32" descr="2_dem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2470" y="2864485"/>
            <a:ext cx="6242685" cy="36461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关键功能实现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核心实现围绕运行时封装、调度预留和结构化输出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49935" y="1325880"/>
            <a:ext cx="4983480" cy="1555115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53895"/>
            <a:ext cx="4654296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1">
                <a:solidFill>
                  <a:srgbClr val="12C4DA"/>
                </a:solidFill>
                <a:latin typeface="微软雅黑" panose="020B0503020204020204" charset="-122"/>
              </a:rPr>
              <a:t>scheduling/runtime.py</a:t>
            </a:r>
            <a:endParaRPr sz="102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1764792"/>
            <a:ext cx="4654296" cy="32735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 panose="020B0609020204030204"/>
              </a:rPr>
              <a:t>submit_task(...)
  validate workflow_tools
  create Task
  scheduler.add_task(task)
  commands = tick(steps=1)
run_until_all_complete(max_steps)
  advance until all COMPLETED</a:t>
            </a:r>
            <a:endParaRPr sz="780" b="0">
              <a:solidFill>
                <a:srgbClr val="DCEBF4"/>
              </a:solidFill>
              <a:latin typeface="Consolas" panose="020B0609020204030204"/>
            </a:endParaRPr>
          </a:p>
        </p:txBody>
      </p:sp>
      <p:sp>
        <p:nvSpPr>
          <p:cNvPr id="8" name="Rounded Rectangle 7"/>
          <p:cNvSpPr/>
          <p:nvPr>
            <p:custDataLst>
              <p:tags r:id="rId1"/>
            </p:custDataLst>
          </p:nvPr>
        </p:nvSpPr>
        <p:spPr>
          <a:xfrm>
            <a:off x="6295644" y="56286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>
            <p:custDataLst>
              <p:tags r:id="rId2"/>
            </p:custDataLst>
          </p:nvPr>
        </p:nvSpPr>
        <p:spPr>
          <a:xfrm>
            <a:off x="6263640" y="53086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3"/>
            </p:custDataLst>
          </p:nvPr>
        </p:nvSpPr>
        <p:spPr>
          <a:xfrm>
            <a:off x="6263640" y="530860"/>
            <a:ext cx="91440" cy="91440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4"/>
            </p:custDataLst>
          </p:nvPr>
        </p:nvSpPr>
        <p:spPr>
          <a:xfrm>
            <a:off x="6446520" y="677164"/>
            <a:ext cx="182880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任务提交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446520" y="969772"/>
            <a:ext cx="1828800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把实验请求转为 Task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6"/>
            </p:custDataLst>
          </p:nvPr>
        </p:nvSpPr>
        <p:spPr>
          <a:xfrm>
            <a:off x="8855963" y="56286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>
            <p:custDataLst>
              <p:tags r:id="rId7"/>
            </p:custDataLst>
          </p:nvPr>
        </p:nvSpPr>
        <p:spPr>
          <a:xfrm>
            <a:off x="8823959" y="53086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>
            <p:custDataLst>
              <p:tags r:id="rId8"/>
            </p:custDataLst>
          </p:nvPr>
        </p:nvSpPr>
        <p:spPr>
          <a:xfrm>
            <a:off x="8823959" y="530860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9"/>
            </p:custDataLst>
          </p:nvPr>
        </p:nvSpPr>
        <p:spPr>
          <a:xfrm>
            <a:off x="9006839" y="677164"/>
            <a:ext cx="182880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资源映射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>
            <p:custDataLst>
              <p:tags r:id="rId10"/>
            </p:custDataLst>
          </p:nvPr>
        </p:nvSpPr>
        <p:spPr>
          <a:xfrm>
            <a:off x="9006839" y="969772"/>
            <a:ext cx="1828800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tool -&gt; workstation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>
            <p:custDataLst>
              <p:tags r:id="rId11"/>
            </p:custDataLst>
          </p:nvPr>
        </p:nvSpPr>
        <p:spPr>
          <a:xfrm>
            <a:off x="6229604" y="169189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>
            <p:custDataLst>
              <p:tags r:id="rId12"/>
            </p:custDataLst>
          </p:nvPr>
        </p:nvSpPr>
        <p:spPr>
          <a:xfrm>
            <a:off x="6197600" y="165989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>
            <p:custDataLst>
              <p:tags r:id="rId13"/>
            </p:custDataLst>
          </p:nvPr>
        </p:nvSpPr>
        <p:spPr>
          <a:xfrm>
            <a:off x="6197600" y="1659890"/>
            <a:ext cx="91440" cy="91440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>
            <p:custDataLst>
              <p:tags r:id="rId14"/>
            </p:custDataLst>
          </p:nvPr>
        </p:nvSpPr>
        <p:spPr>
          <a:xfrm>
            <a:off x="6380480" y="1806194"/>
            <a:ext cx="182880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时间推进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>
            <p:custDataLst>
              <p:tags r:id="rId15"/>
            </p:custDataLst>
          </p:nvPr>
        </p:nvSpPr>
        <p:spPr>
          <a:xfrm>
            <a:off x="6380480" y="2098802"/>
            <a:ext cx="1828800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tick / advance_time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>
            <p:custDataLst>
              <p:tags r:id="rId16"/>
            </p:custDataLst>
          </p:nvPr>
        </p:nvSpPr>
        <p:spPr>
          <a:xfrm>
            <a:off x="8723248" y="1691894"/>
            <a:ext cx="2148840" cy="91440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>
            <p:custDataLst>
              <p:tags r:id="rId17"/>
            </p:custDataLst>
          </p:nvPr>
        </p:nvSpPr>
        <p:spPr>
          <a:xfrm>
            <a:off x="8691244" y="1659890"/>
            <a:ext cx="2148840" cy="91440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>
            <p:custDataLst>
              <p:tags r:id="rId18"/>
            </p:custDataLst>
          </p:nvPr>
        </p:nvSpPr>
        <p:spPr>
          <a:xfrm>
            <a:off x="8691244" y="1659890"/>
            <a:ext cx="91440" cy="9144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>
            <p:custDataLst>
              <p:tags r:id="rId19"/>
            </p:custDataLst>
          </p:nvPr>
        </p:nvSpPr>
        <p:spPr>
          <a:xfrm>
            <a:off x="8874124" y="1806194"/>
            <a:ext cx="182880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结果归档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>
            <p:custDataLst>
              <p:tags r:id="rId20"/>
            </p:custDataLst>
          </p:nvPr>
        </p:nvSpPr>
        <p:spPr>
          <a:xfrm>
            <a:off x="8874124" y="2098802"/>
            <a:ext cx="1828800" cy="411479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demo_result.json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pic>
        <p:nvPicPr>
          <p:cNvPr id="33" name="图片 32" descr="3_runtime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5920740" y="2852420"/>
            <a:ext cx="5632450" cy="3842385"/>
          </a:xfrm>
          <a:prstGeom prst="rect">
            <a:avLst/>
          </a:prstGeom>
        </p:spPr>
      </p:pic>
      <p:pic>
        <p:nvPicPr>
          <p:cNvPr id="34" name="图片 33" descr="4_scheduler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98145" y="2999105"/>
            <a:ext cx="5439410" cy="325564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异常处理与工程健壮性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输入校验和结构化错误返回让原型更可演示、可测试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09244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828800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975104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输入请求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267712"/>
            <a:ext cx="19202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sample_id / steps / workflow_tools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3108960" y="2221992"/>
            <a:ext cx="347472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98164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66160" y="1828800"/>
            <a:ext cx="91440" cy="96012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49039" y="1975104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运行时校验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749039" y="2267712"/>
            <a:ext cx="19202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_require_text / _positive_int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5897879" y="2221992"/>
            <a:ext cx="347472" cy="146304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87083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79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5079" y="1828800"/>
            <a:ext cx="91440" cy="96012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59" y="1975104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错误包装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537959" y="2267712"/>
            <a:ext cx="19202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_safe_call / _error_response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8686800" y="2221992"/>
            <a:ext cx="347472" cy="146304"/>
          </a:xfrm>
          <a:prstGeom prst="rightArrow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176003" y="1860804"/>
            <a:ext cx="2240280" cy="96012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143999" y="1828800"/>
            <a:ext cx="2240280" cy="96012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3999" y="1828800"/>
            <a:ext cx="91440" cy="96012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79" y="1975104"/>
            <a:ext cx="1920240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结构化返回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326879" y="2267712"/>
            <a:ext cx="1920240" cy="45720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INVALID_INPUT + runtime_status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960120" y="3840480"/>
            <a:ext cx="4663440" cy="13258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24712" y="3968496"/>
            <a:ext cx="4334255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1">
                <a:solidFill>
                  <a:srgbClr val="12C4DA"/>
                </a:solidFill>
                <a:latin typeface="微软雅黑" panose="020B0503020204020204" charset="-122"/>
              </a:rPr>
              <a:t>tools/action_server_tools.py</a:t>
            </a:r>
            <a:endParaRPr sz="102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1124712" y="4279392"/>
            <a:ext cx="4334255" cy="7589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 panose="020B0609020204030204"/>
              </a:rPr>
              <a:t>return { "ok": False,
  "error": {
    "code": "INVALID_INPUT"
  },
  "runtime_status": ... }</a:t>
            </a:r>
            <a:endParaRPr sz="780" b="0">
              <a:solidFill>
                <a:srgbClr val="DCEBF4"/>
              </a:solidFill>
              <a:latin typeface="Consolas" panose="020B0609020204030204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432550" y="3872230"/>
            <a:ext cx="4815205" cy="132588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3840480"/>
            <a:ext cx="4815205" cy="132588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840480"/>
            <a:ext cx="99695" cy="132588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986530"/>
            <a:ext cx="4464050" cy="2355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边界说明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83680" y="4279265"/>
            <a:ext cx="4464050" cy="17399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已实现基础输入校验与错误返回；真实设备 ACK、超时重试和安全联锁仍属于后续扩展。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测试方案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用标准库 unittest 覆盖模型、调度器、运行时、工具和 demo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3232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89888" y="1847088"/>
            <a:ext cx="512064" cy="51206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81328" y="1993392"/>
            <a:ext cx="310896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091A30"/>
                </a:solidFill>
                <a:latin typeface="微软雅黑" panose="020B0503020204020204" charset="-122"/>
              </a:rPr>
              <a:t>1</a:t>
            </a:r>
            <a:endParaRPr sz="8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69264" y="2606040"/>
            <a:ext cx="137160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模型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32688" y="2999232"/>
            <a:ext cx="1463040" cy="42062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Task 创建
workflow 必填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77824" y="4078224"/>
            <a:ext cx="157276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微软雅黑" panose="020B0503020204020204" charset="-122"/>
              </a:rPr>
              <a:t>TaskModelTests</a:t>
            </a:r>
            <a:endParaRPr sz="69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80944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657600" y="1847088"/>
            <a:ext cx="512064" cy="51206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49039" y="1993392"/>
            <a:ext cx="310896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2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236976" y="2606040"/>
            <a:ext cx="137160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调度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200400" y="2999232"/>
            <a:ext cx="1463040" cy="42062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资源预留
命令生成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145536" y="4078224"/>
            <a:ext cx="157276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微软雅黑" panose="020B0503020204020204" charset="-122"/>
              </a:rPr>
              <a:t>SchedulerTests</a:t>
            </a:r>
            <a:endParaRPr sz="69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5248656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925312" y="1847088"/>
            <a:ext cx="512064" cy="512064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16752" y="1993392"/>
            <a:ext cx="310896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3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504688" y="2606040"/>
            <a:ext cx="137160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运行时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468112" y="2999232"/>
            <a:ext cx="1463040" cy="42062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提交 / 状态
完成 / 推进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413248" y="4078224"/>
            <a:ext cx="157276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微软雅黑" panose="020B0503020204020204" charset="-122"/>
              </a:rPr>
              <a:t>RuntimeTests</a:t>
            </a:r>
            <a:endParaRPr sz="69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7516367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93023" y="1847088"/>
            <a:ext cx="512064" cy="51206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84463" y="1993392"/>
            <a:ext cx="310896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4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7772399" y="2606040"/>
            <a:ext cx="137160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错误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735823" y="2999232"/>
            <a:ext cx="1463040" cy="42062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INVALID_INPUT
结构化返回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80959" y="4078224"/>
            <a:ext cx="157276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微软雅黑" panose="020B0503020204020204" charset="-122"/>
              </a:rPr>
              <a:t>ActionServerTools</a:t>
            </a:r>
            <a:endParaRPr sz="69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9784080" y="1508760"/>
            <a:ext cx="1901952" cy="333756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60736" y="1847088"/>
            <a:ext cx="512064" cy="512064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52176" y="1993392"/>
            <a:ext cx="310896" cy="11887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微软雅黑" panose="020B0503020204020204" charset="-122"/>
              </a:rPr>
              <a:t>5</a:t>
            </a:r>
            <a:endParaRPr sz="85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0040111" y="2606040"/>
            <a:ext cx="137160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091A30"/>
                </a:solidFill>
                <a:latin typeface="微软雅黑" panose="020B0503020204020204" charset="-122"/>
              </a:rPr>
              <a:t>Demo</a:t>
            </a:r>
            <a:endParaRPr sz="1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003536" y="2999232"/>
            <a:ext cx="1463040" cy="42062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生成结果
输出归档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948672" y="4078224"/>
            <a:ext cx="1572768" cy="13716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690" b="0">
                <a:solidFill>
                  <a:srgbClr val="5B6C80"/>
                </a:solidFill>
                <a:latin typeface="微软雅黑" panose="020B0503020204020204" charset="-122"/>
              </a:rPr>
              <a:t>DemoSmokeTests</a:t>
            </a:r>
            <a:endParaRPr sz="69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1691640" y="5394960"/>
            <a:ext cx="8823960" cy="475488"/>
          </a:xfrm>
          <a:prstGeom prst="roundRect">
            <a:avLst/>
          </a:prstGeom>
          <a:solidFill>
            <a:srgbClr val="EB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5550408"/>
            <a:ext cx="8229600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微软雅黑" panose="020B0503020204020204" charset="-122"/>
              </a:rPr>
              <a:t>入口：AIChemMCP-main/run_tests.py；测试文件：tests/test_scheduling_runtime.py</a:t>
            </a:r>
            <a:endParaRPr sz="8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测试结果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当前运行 8 个测试用例全部通过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68680" y="1371600"/>
            <a:ext cx="3200400" cy="1325880"/>
          </a:xfrm>
          <a:prstGeom prst="roundRect">
            <a:avLst/>
          </a:prstGeom>
          <a:solidFill>
            <a:srgbClr val="E7FAF0"/>
          </a:solidFill>
          <a:ln w="1524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00784"/>
            <a:ext cx="2743200" cy="32004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2600" b="1">
                <a:solidFill>
                  <a:srgbClr val="27AE60"/>
                </a:solidFill>
                <a:latin typeface="微软雅黑" panose="020B0503020204020204" charset="-122"/>
              </a:rPr>
              <a:t>8 tests</a:t>
            </a:r>
            <a:endParaRPr sz="2600" b="1">
              <a:solidFill>
                <a:srgbClr val="27AE60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0" y="2139696"/>
            <a:ext cx="2743200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50" b="0">
                <a:solidFill>
                  <a:srgbClr val="5B6C80"/>
                </a:solidFill>
                <a:latin typeface="微软雅黑" panose="020B0503020204020204" charset="-122"/>
              </a:rPr>
              <a:t>Ran 8 tests ... OK</a:t>
            </a:r>
            <a:endParaRPr sz="9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4736465" y="1060450"/>
            <a:ext cx="6126480" cy="2011680"/>
          </a:xfrm>
          <a:prstGeom prst="roundRect">
            <a:avLst/>
          </a:prstGeom>
          <a:solidFill>
            <a:srgbClr val="12243A"/>
          </a:solidFill>
          <a:ln w="11430">
            <a:solidFill>
              <a:srgbClr val="246E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057" y="1188466"/>
            <a:ext cx="5797296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1">
                <a:solidFill>
                  <a:srgbClr val="12C4DA"/>
                </a:solidFill>
                <a:latin typeface="微软雅黑" panose="020B0503020204020204" charset="-122"/>
              </a:rPr>
              <a:t>python run_tests.py</a:t>
            </a:r>
            <a:endParaRPr sz="102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901057" y="1499362"/>
            <a:ext cx="5797296" cy="144475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80" b="0">
                <a:solidFill>
                  <a:srgbClr val="DCEBF4"/>
                </a:solidFill>
                <a:latin typeface="Consolas" panose="020B0609020204030204"/>
              </a:rPr>
              <a:t>test_demo_generates_result_file ... ok
test_action_tools_return_structured_error ... ok
test_runtime_submit_status_and_completion ... ok
test_scheduler_basic_reservation ... ok
Ran 8 tests in 0.023s
OK</a:t>
            </a:r>
            <a:endParaRPr sz="780" b="0">
              <a:solidFill>
                <a:srgbClr val="DCEBF4"/>
              </a:solidFill>
              <a:latin typeface="Consolas" panose="020B060902020403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" y="5577840"/>
            <a:ext cx="987552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测试结果来自本轮本地运行，不涉及外部服务。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pic>
        <p:nvPicPr>
          <p:cNvPr id="15" name="图片 14" descr="5_tests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6925" y="3319145"/>
            <a:ext cx="6997700" cy="2209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工程化实践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从概念验证整理为可运行、可测试、可复现的项目结构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327025" y="1091565"/>
            <a:ext cx="2317750" cy="112649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>
            <p:custDataLst>
              <p:tags r:id="rId2"/>
            </p:custDataLst>
          </p:nvPr>
        </p:nvSpPr>
        <p:spPr>
          <a:xfrm>
            <a:off x="528320" y="1263015"/>
            <a:ext cx="321310" cy="187960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>
            <p:custDataLst>
              <p:tags r:id="rId3"/>
            </p:custDataLst>
          </p:nvPr>
        </p:nvSpPr>
        <p:spPr>
          <a:xfrm>
            <a:off x="985520" y="1254125"/>
            <a:ext cx="1371600" cy="121920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微软雅黑" panose="020B0503020204020204" charset="-122"/>
              </a:rPr>
              <a:t>模块化组织</a:t>
            </a:r>
            <a:endParaRPr sz="14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19760" y="1793875"/>
            <a:ext cx="1702435" cy="253365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scheduling
servers / tools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3311525" y="1121410"/>
            <a:ext cx="2317750" cy="112649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>
            <p:custDataLst>
              <p:tags r:id="rId6"/>
            </p:custDataLst>
          </p:nvPr>
        </p:nvSpPr>
        <p:spPr>
          <a:xfrm>
            <a:off x="3512820" y="1292860"/>
            <a:ext cx="321310" cy="187960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7"/>
            </p:custDataLst>
          </p:nvPr>
        </p:nvSpPr>
        <p:spPr>
          <a:xfrm>
            <a:off x="3970020" y="1283970"/>
            <a:ext cx="1371600" cy="121920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微软雅黑" panose="020B0503020204020204" charset="-122"/>
              </a:rPr>
              <a:t>接口封装</a:t>
            </a:r>
            <a:endParaRPr sz="14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3604260" y="1823720"/>
            <a:ext cx="1702435" cy="253365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Action Server
Tools 返回包装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6345555" y="1121410"/>
            <a:ext cx="2317750" cy="112649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>
            <p:custDataLst>
              <p:tags r:id="rId10"/>
            </p:custDataLst>
          </p:nvPr>
        </p:nvSpPr>
        <p:spPr>
          <a:xfrm>
            <a:off x="6546850" y="1292860"/>
            <a:ext cx="321310" cy="1879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11"/>
            </p:custDataLst>
          </p:nvPr>
        </p:nvSpPr>
        <p:spPr>
          <a:xfrm>
            <a:off x="7004050" y="1283970"/>
            <a:ext cx="1371600" cy="121920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微软雅黑" panose="020B0503020204020204" charset="-122"/>
              </a:rPr>
              <a:t>测试验证</a:t>
            </a:r>
            <a:endParaRPr sz="14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6638290" y="1823720"/>
            <a:ext cx="1702435" cy="253365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run_tests.py
8 个 unittest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>
            <p:custDataLst>
              <p:tags r:id="rId13"/>
            </p:custDataLst>
          </p:nvPr>
        </p:nvSpPr>
        <p:spPr>
          <a:xfrm>
            <a:off x="9349740" y="1121410"/>
            <a:ext cx="2317750" cy="112649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DDE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>
            <p:custDataLst>
              <p:tags r:id="rId14"/>
            </p:custDataLst>
          </p:nvPr>
        </p:nvSpPr>
        <p:spPr>
          <a:xfrm>
            <a:off x="9551035" y="1292860"/>
            <a:ext cx="321310" cy="187960"/>
          </a:xfrm>
          <a:prstGeom prst="ellipse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5"/>
            </p:custDataLst>
          </p:nvPr>
        </p:nvSpPr>
        <p:spPr>
          <a:xfrm>
            <a:off x="10008235" y="1283970"/>
            <a:ext cx="1371600" cy="121920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l"/>
            <a:r>
              <a:rPr sz="1450" b="1">
                <a:solidFill>
                  <a:srgbClr val="091A30"/>
                </a:solidFill>
                <a:latin typeface="微软雅黑" panose="020B0503020204020204" charset="-122"/>
              </a:rPr>
              <a:t>文档与归档</a:t>
            </a:r>
            <a:endParaRPr sz="145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>
            <p:custDataLst>
              <p:tags r:id="rId16"/>
            </p:custDataLst>
          </p:nvPr>
        </p:nvSpPr>
        <p:spPr>
          <a:xfrm>
            <a:off x="9642475" y="1823720"/>
            <a:ext cx="1702435" cy="253365"/>
          </a:xfrm>
          <a:prstGeom prst="rect">
            <a:avLst/>
          </a:prstGeom>
          <a:noFill/>
        </p:spPr>
        <p:txBody>
          <a:bodyPr wrap="none" lIns="36576" tIns="18288" rIns="36576" bIns="18288" anchor="t">
            <a:noAutofit/>
          </a:bodyPr>
          <a:lstStyle/>
          <a:p>
            <a:pPr algn="ctr"/>
            <a:r>
              <a:rPr sz="920" b="0">
                <a:solidFill>
                  <a:srgbClr val="5B6C80"/>
                </a:solidFill>
                <a:latin typeface="微软雅黑" panose="020B0503020204020204" charset="-122"/>
              </a:rPr>
              <a:t>README / docs
outputs JSON</a:t>
            </a:r>
            <a:endParaRPr sz="9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310880" y="5995670"/>
            <a:ext cx="3802380" cy="804545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279130" y="5963920"/>
            <a:ext cx="3802380" cy="804545"/>
          </a:xfrm>
          <a:prstGeom prst="roundRect">
            <a:avLst/>
          </a:prstGeom>
          <a:solidFill>
            <a:srgbClr val="EBF6FA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279130" y="5963920"/>
            <a:ext cx="76200" cy="804545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62010" y="6109970"/>
            <a:ext cx="3574415" cy="235585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091A30"/>
                </a:solidFill>
                <a:latin typeface="微软雅黑" panose="020B0503020204020204" charset="-122"/>
              </a:rPr>
              <a:t>可复现链路</a:t>
            </a:r>
            <a:endParaRPr sz="13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599170" y="6402705"/>
            <a:ext cx="3574415" cy="312420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python demo.py -&gt; outputs/demo_result.json
python run_tests.py -&gt; OK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pic>
        <p:nvPicPr>
          <p:cNvPr id="29" name="图片 28" descr="6_directory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672195" y="2580005"/>
            <a:ext cx="1779905" cy="3235960"/>
          </a:xfrm>
          <a:prstGeom prst="rect">
            <a:avLst/>
          </a:prstGeom>
        </p:spPr>
      </p:pic>
      <p:pic>
        <p:nvPicPr>
          <p:cNvPr id="30" name="图片 29" descr="7_目录结构图.drawio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45135" y="2663825"/>
            <a:ext cx="7304405" cy="36817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项目难点与解决方案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难点集中在抽象、解耦、仿真闭环和可测试性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841248" y="1353312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41248" y="1353312"/>
            <a:ext cx="91440" cy="566928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1545336"/>
            <a:ext cx="3200400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任务步骤抽象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8" name="Right Arrow 7"/>
          <p:cNvSpPr/>
          <p:nvPr/>
        </p:nvSpPr>
        <p:spPr>
          <a:xfrm>
            <a:off x="5138928" y="1572768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897880" y="1353312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1353312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44768" y="1545336"/>
            <a:ext cx="3749039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统一 Task / workflow_tools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841248" y="2157984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41248" y="2157984"/>
            <a:ext cx="91440" cy="566928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78992" y="2350008"/>
            <a:ext cx="3200400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Agent 与调度解耦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138928" y="2377439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897880" y="2157984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2157984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44768" y="2350008"/>
            <a:ext cx="3749039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Action Server + Tools 网关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41248" y="2962656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41248" y="2962656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78992" y="3154680"/>
            <a:ext cx="3200400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无硬件条件下演示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5138928" y="3182112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897880" y="2962656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897880" y="2962656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44768" y="3154680"/>
            <a:ext cx="3749039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模拟资源 + 时间线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841248" y="3767328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41248" y="3767328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78992" y="3959352"/>
            <a:ext cx="3200400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多资源冲突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9" name="Right Arrow 28"/>
          <p:cNvSpPr/>
          <p:nvPr/>
        </p:nvSpPr>
        <p:spPr>
          <a:xfrm>
            <a:off x="5138928" y="3986784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897880" y="3767328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897880" y="3767328"/>
            <a:ext cx="91440" cy="566928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44768" y="3959352"/>
            <a:ext cx="3749039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Scheduler 预留窗口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841248" y="4572000"/>
            <a:ext cx="3886200" cy="566928"/>
          </a:xfrm>
          <a:prstGeom prst="roundRect">
            <a:avLst/>
          </a:prstGeom>
          <a:solidFill>
            <a:srgbClr val="FFFFFF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41248" y="4572000"/>
            <a:ext cx="91440" cy="5669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992" y="4764024"/>
            <a:ext cx="3200400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工程验证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6" name="Right Arrow 35"/>
          <p:cNvSpPr/>
          <p:nvPr/>
        </p:nvSpPr>
        <p:spPr>
          <a:xfrm>
            <a:off x="5138928" y="4791456"/>
            <a:ext cx="438912" cy="109728"/>
          </a:xfrm>
          <a:prstGeom prst="rightArrow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897880" y="4572000"/>
            <a:ext cx="4526280" cy="566928"/>
          </a:xfrm>
          <a:prstGeom prst="roundRect">
            <a:avLst/>
          </a:prstGeom>
          <a:solidFill>
            <a:srgbClr val="EFF8FC"/>
          </a:solidFill>
          <a:ln w="8890">
            <a:solidFill>
              <a:srgbClr val="D2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897880" y="4572000"/>
            <a:ext cx="9144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44768" y="4764024"/>
            <a:ext cx="3749039" cy="12801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80" b="1">
                <a:solidFill>
                  <a:srgbClr val="091A30"/>
                </a:solidFill>
                <a:latin typeface="微软雅黑" panose="020B0503020204020204" charset="-122"/>
              </a:rPr>
              <a:t>demo + unittest</a:t>
            </a:r>
            <a:endParaRPr sz="98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60120" y="5806440"/>
            <a:ext cx="987552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80" b="0">
                <a:solidFill>
                  <a:srgbClr val="5B6C80"/>
                </a:solidFill>
                <a:latin typeface="微软雅黑" panose="020B0503020204020204" charset="-122"/>
              </a:rPr>
              <a:t>解决方案均落在当前真实代码、demo 和测试中；真实硬件接入仍放在后续扩展。</a:t>
            </a:r>
            <a:endParaRPr sz="88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9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47472"/>
            <a:ext cx="5760720" cy="40233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500" b="1">
                <a:solidFill>
                  <a:srgbClr val="091A30"/>
                </a:solidFill>
                <a:latin typeface="微软雅黑" panose="020B0503020204020204" charset="-122"/>
              </a:rPr>
              <a:t>不足与后续扩展</a:t>
            </a:r>
            <a:endParaRPr sz="25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603504" y="786384"/>
            <a:ext cx="7863840" cy="237744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020" b="0">
                <a:solidFill>
                  <a:srgbClr val="5B6C80"/>
                </a:solidFill>
                <a:latin typeface="微软雅黑" panose="020B0503020204020204" charset="-122"/>
              </a:rPr>
              <a:t>当前是仿真原型，后续重点是硬件协议、反馈闭环和可视化</a:t>
            </a:r>
            <a:endParaRPr sz="102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1780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91440" cy="1234440"/>
          </a:xfrm>
          <a:prstGeom prst="rect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975104"/>
            <a:ext cx="15544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当前原型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68680" y="2267712"/>
            <a:ext cx="1554479" cy="7315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simulation / mock
已完成软件闭环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0" name="Right Arrow 9"/>
          <p:cNvSpPr/>
          <p:nvPr/>
        </p:nvSpPr>
        <p:spPr>
          <a:xfrm>
            <a:off x="260604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5808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92608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926080" y="1828800"/>
            <a:ext cx="91440" cy="12344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108960" y="1975104"/>
            <a:ext cx="15544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硬件协议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3108960" y="2267712"/>
            <a:ext cx="1554479" cy="7315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接入真实设备或
硬件模拟平台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16" name="Right Arrow 15"/>
          <p:cNvSpPr/>
          <p:nvPr/>
        </p:nvSpPr>
        <p:spPr>
          <a:xfrm>
            <a:off x="484632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19836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6636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66360" y="1828800"/>
            <a:ext cx="91440" cy="1234440"/>
          </a:xfrm>
          <a:prstGeom prst="rect">
            <a:avLst/>
          </a:prstGeom>
          <a:solidFill>
            <a:srgbClr val="F592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49240" y="1975104"/>
            <a:ext cx="15544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异常恢复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349240" y="2267712"/>
            <a:ext cx="1554479" cy="7315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ACK / 超时 / 重试
安全联锁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2" name="Right Arrow 21"/>
          <p:cNvSpPr/>
          <p:nvPr/>
        </p:nvSpPr>
        <p:spPr>
          <a:xfrm>
            <a:off x="708660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3864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40664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828800"/>
            <a:ext cx="91440" cy="1234440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589520" y="1975104"/>
            <a:ext cx="15544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复杂调度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89520" y="2267712"/>
            <a:ext cx="1554479" cy="7315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依赖约束
反馈重规划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28" name="Right Arrow 27"/>
          <p:cNvSpPr/>
          <p:nvPr/>
        </p:nvSpPr>
        <p:spPr>
          <a:xfrm>
            <a:off x="9326880" y="2331720"/>
            <a:ext cx="256032" cy="128016"/>
          </a:xfrm>
          <a:prstGeom prst="rightArrow">
            <a:avLst/>
          </a:prstGeom>
          <a:solidFill>
            <a:srgbClr val="96BE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78924" y="1860804"/>
            <a:ext cx="1874519" cy="1234440"/>
          </a:xfrm>
          <a:prstGeom prst="roundRect">
            <a:avLst/>
          </a:prstGeom>
          <a:solidFill>
            <a:srgbClr val="DAE3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646920" y="1828800"/>
            <a:ext cx="1874519" cy="123444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EE0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46920" y="1828800"/>
            <a:ext cx="91440" cy="12344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9800" y="1975104"/>
            <a:ext cx="1554479" cy="219456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200" b="1">
                <a:solidFill>
                  <a:srgbClr val="091A30"/>
                </a:solidFill>
                <a:latin typeface="微软雅黑" panose="020B0503020204020204" charset="-122"/>
              </a:rPr>
              <a:t>可视化平台</a:t>
            </a:r>
            <a:endParaRPr sz="1200" b="1">
              <a:solidFill>
                <a:srgbClr val="091A30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829800" y="2267712"/>
            <a:ext cx="1554479" cy="73152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900" b="0">
                <a:solidFill>
                  <a:srgbClr val="5B6C80"/>
                </a:solidFill>
                <a:latin typeface="微软雅黑" panose="020B0503020204020204" charset="-122"/>
              </a:rPr>
              <a:t>任务队列
资源时间线</a:t>
            </a:r>
            <a:endParaRPr sz="90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1051560" y="4343400"/>
            <a:ext cx="9966960" cy="777240"/>
          </a:xfrm>
          <a:prstGeom prst="roundRect">
            <a:avLst/>
          </a:prstGeom>
          <a:solidFill>
            <a:srgbClr val="FFF6EC"/>
          </a:solidFill>
          <a:ln w="11430">
            <a:solidFill>
              <a:srgbClr val="F592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92868" y="4553712"/>
            <a:ext cx="4284345" cy="189230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lang="zh-CN" sz="1000" b="1">
                <a:solidFill>
                  <a:srgbClr val="253140"/>
                </a:solidFill>
                <a:latin typeface="微软雅黑" panose="020B0503020204020204" charset="-122"/>
              </a:rPr>
              <a:t>待验证</a:t>
            </a:r>
            <a:r>
              <a:rPr sz="1000" b="1">
                <a:solidFill>
                  <a:srgbClr val="253140"/>
                </a:solidFill>
                <a:latin typeface="微软雅黑" panose="020B0503020204020204" charset="-122"/>
              </a:rPr>
              <a:t>：真实机械臂控制、真实实验室执行、生产级调度、复杂反馈闭环。</a:t>
            </a:r>
            <a:endParaRPr sz="1000" b="1">
              <a:solidFill>
                <a:srgbClr val="253140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5B6C8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5B6C8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1A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rc 2"/>
          <p:cNvSpPr/>
          <p:nvPr/>
        </p:nvSpPr>
        <p:spPr>
          <a:xfrm>
            <a:off x="7406640" y="804672"/>
            <a:ext cx="3840480" cy="3840480"/>
          </a:xfrm>
          <a:prstGeom prst="arc">
            <a:avLst/>
          </a:prstGeom>
          <a:solidFill>
            <a:srgbClr val="091A30"/>
          </a:solidFill>
          <a:ln w="15240">
            <a:solidFill>
              <a:srgbClr val="225B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7973568" y="1325880"/>
            <a:ext cx="2743200" cy="2743200"/>
          </a:xfrm>
          <a:prstGeom prst="arc">
            <a:avLst/>
          </a:prstGeom>
          <a:solidFill>
            <a:srgbClr val="091A30"/>
          </a:solidFill>
          <a:ln w="12700">
            <a:solidFill>
              <a:srgbClr val="177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229600" y="1920240"/>
            <a:ext cx="118872" cy="118872"/>
          </a:xfrm>
          <a:prstGeom prst="ellipse">
            <a:avLst/>
          </a:prstGeom>
          <a:solidFill>
            <a:srgbClr val="1E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646920" y="27614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643616" y="1847088"/>
            <a:ext cx="118872" cy="118872"/>
          </a:xfrm>
          <a:prstGeom prst="ellipse">
            <a:avLst/>
          </a:prstGeom>
          <a:solidFill>
            <a:srgbClr val="12C4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8284464" y="1975104"/>
            <a:ext cx="1417320" cy="841248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701784" y="1901952"/>
            <a:ext cx="996696" cy="914400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8284464" y="1901952"/>
            <a:ext cx="2414016" cy="73152"/>
          </a:xfrm>
          <a:prstGeom prst="line">
            <a:avLst/>
          </a:prstGeom>
          <a:ln w="10160">
            <a:solidFill>
              <a:srgbClr val="28759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58368" y="658368"/>
            <a:ext cx="182880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1300" b="1">
                <a:solidFill>
                  <a:srgbClr val="12C4DA"/>
                </a:solidFill>
                <a:latin typeface="微软雅黑" panose="020B0503020204020204" charset="-122"/>
              </a:rPr>
              <a:t>总结</a:t>
            </a:r>
            <a:endParaRPr sz="13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8368" y="1298448"/>
            <a:ext cx="6217920" cy="6583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微软雅黑" panose="020B0503020204020204" charset="-122"/>
              </a:rPr>
              <a:t>完成从 AIChemMCP 工具调用
到调度仿真执行的工程闭环</a:t>
            </a:r>
            <a:endParaRPr sz="27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15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133087"/>
            <a:ext cx="18105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charset="-122"/>
              </a:rPr>
              <a:t>可运行</a:t>
            </a:r>
            <a:endParaRPr sz="1500" b="1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96112" y="4480560"/>
            <a:ext cx="181051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微软雅黑" panose="020B0503020204020204" charset="-122"/>
              </a:rPr>
              <a:t>demo.py 输出可归档结果</a:t>
            </a:r>
            <a:endParaRPr sz="850" b="0">
              <a:solidFill>
                <a:srgbClr val="C6DEED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747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4133087"/>
            <a:ext cx="18105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微软雅黑" panose="020B0503020204020204" charset="-122"/>
              </a:rPr>
              <a:t>可观测</a:t>
            </a:r>
            <a:endParaRPr sz="15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39312" y="4480560"/>
            <a:ext cx="181051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微软雅黑" panose="020B0503020204020204" charset="-122"/>
              </a:rPr>
              <a:t>任务、资源、历史状态可查询</a:t>
            </a:r>
            <a:endParaRPr sz="850" b="0">
              <a:solidFill>
                <a:srgbClr val="C6DEED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2179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4133087"/>
            <a:ext cx="18105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微软雅黑" panose="020B0503020204020204" charset="-122"/>
              </a:rPr>
              <a:t>可验证</a:t>
            </a:r>
            <a:endParaRPr sz="15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382512" y="4480560"/>
            <a:ext cx="181051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微软雅黑" panose="020B0503020204020204" charset="-122"/>
              </a:rPr>
              <a:t>8 个 unittest 本地通过</a:t>
            </a:r>
            <a:endParaRPr sz="850" b="0">
              <a:solidFill>
                <a:srgbClr val="C6DEED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8961120" y="3886200"/>
            <a:ext cx="2148840" cy="1005840"/>
          </a:xfrm>
          <a:prstGeom prst="roundRect">
            <a:avLst/>
          </a:prstGeom>
          <a:solidFill>
            <a:srgbClr val="0E3252"/>
          </a:solidFill>
          <a:ln w="10160">
            <a:solidFill>
              <a:srgbClr val="2E8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4133087"/>
            <a:ext cx="1810512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500" b="1">
                <a:solidFill>
                  <a:srgbClr val="12C4DA"/>
                </a:solidFill>
                <a:latin typeface="微软雅黑" panose="020B0503020204020204" charset="-122"/>
              </a:rPr>
              <a:t>可扩展</a:t>
            </a:r>
            <a:endParaRPr sz="1500" b="1">
              <a:solidFill>
                <a:srgbClr val="12C4DA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125712" y="4480560"/>
            <a:ext cx="1810512" cy="16459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850" b="0">
                <a:solidFill>
                  <a:srgbClr val="C6DEED"/>
                </a:solidFill>
                <a:latin typeface="微软雅黑" panose="020B0503020204020204" charset="-122"/>
              </a:rPr>
              <a:t>为真实设备协议预留结构</a:t>
            </a:r>
            <a:endParaRPr sz="850" b="0">
              <a:solidFill>
                <a:srgbClr val="C6DEED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920" y="5623560"/>
            <a:ext cx="6583680" cy="256032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ctr"/>
            <a:r>
              <a:rPr sz="1000" b="0">
                <a:solidFill>
                  <a:srgbClr val="C6DEED"/>
                </a:solidFill>
                <a:latin typeface="微软雅黑" panose="020B0503020204020204" charset="-122"/>
              </a:rPr>
              <a:t>当前定位始终是仿真调度原型，不夸大为真实硬件系统。</a:t>
            </a:r>
            <a:endParaRPr sz="1000" b="0">
              <a:solidFill>
                <a:srgbClr val="C6DEED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6928" y="6510528"/>
            <a:ext cx="6309360" cy="201168"/>
          </a:xfrm>
          <a:prstGeom prst="rect">
            <a:avLst/>
          </a:prstGeom>
          <a:noFill/>
        </p:spPr>
        <p:txBody>
          <a:bodyPr wrap="none" lIns="36576" tIns="18288" rIns="36576" bIns="18288" anchor="t">
            <a:spAutoFit/>
          </a:bodyPr>
          <a:lstStyle/>
          <a:p>
            <a:pPr algn="l"/>
            <a:r>
              <a:rPr sz="750" b="0">
                <a:solidFill>
                  <a:srgbClr val="B9CFE0"/>
                </a:solidFill>
                <a:latin typeface="微软雅黑" panose="020B0503020204020204" charset="-122"/>
              </a:rPr>
              <a:t>AIChemMCP scheduling prototype | simulation / mock hardware</a:t>
            </a:r>
            <a:endParaRPr sz="750" b="0">
              <a:solidFill>
                <a:srgbClr val="B9CFE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2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3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4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5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6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7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8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9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0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1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2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3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4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5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6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7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8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19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20.xml><?xml version="1.0" encoding="utf-8"?>
<p:tagLst xmlns:p="http://schemas.openxmlformats.org/presentationml/2006/main">
  <p:tag name="KSO_WM_DIAGRAM_VIRTUALLY_FRAME" val="{&quot;height&quot;:262.49,&quot;left&quot;:471.6,&quot;top&quot;:44.59000000000001,&quot;width&quot;:413.62000000000006}"/>
</p:tagLst>
</file>

<file path=ppt/tags/tag21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2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3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4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5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6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7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8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29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0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1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2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3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4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5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6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7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8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39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40.xml><?xml version="1.0" encoding="utf-8"?>
<p:tagLst xmlns:p="http://schemas.openxmlformats.org/presentationml/2006/main">
  <p:tag name="KSO_WM_DIAGRAM_VIRTUALLY_FRAME" val="{&quot;height&quot;:259.52,&quot;left&quot;:488,&quot;top&quot;:41.8,&quot;width&quot;:378.51992125984253}"/>
</p:tagLst>
</file>

<file path=ppt/tags/tag41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2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3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4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5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6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7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8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49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50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51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52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53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54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55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ags/tag56.xml><?xml version="1.0" encoding="utf-8"?>
<p:tagLst xmlns:p="http://schemas.openxmlformats.org/presentationml/2006/main">
  <p:tag name="KSO_WM_DIAGRAM_VIRTUALLY_FRAME" val="{&quot;height&quot;:427.5,&quot;left&quot;:25.75,&quot;top&quot;:83.05,&quot;width&quot;:904.35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6963</Words>
  <Application>WPS 演示</Application>
  <PresentationFormat>On-screen Show (4:3)</PresentationFormat>
  <Paragraphs>727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1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湖湖</cp:lastModifiedBy>
  <cp:revision>5</cp:revision>
  <dcterms:created xsi:type="dcterms:W3CDTF">2013-01-27T09:14:00Z</dcterms:created>
  <dcterms:modified xsi:type="dcterms:W3CDTF">2026-06-17T04:45:12Z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3A0B9A83607B4284B9643ECC9BF68361_12</vt:lpwstr>
  </property>
</Properties>
</file>